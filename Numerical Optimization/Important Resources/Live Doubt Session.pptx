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9CEB8D-F09A-42D0-9811-BDE1FAE6794C}">
  <a:tblStyle styleId="{039CEB8D-F09A-42D0-9811-BDE1FAE679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0c9a507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0c9a507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0c9a507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0c9a507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499092f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499092f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499092f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499092f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499092fb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499092fb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499092fb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499092fb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499092fb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499092fb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ce7ef76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ce7ef76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55f805d5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55f805d5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5f805d5c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55f805d5c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5f805d5c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5f805d5c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55f805d5c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55f805d5c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55f805d5c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55f805d5c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55f805d5c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55f805d5c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ce7ef76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5ce7ef76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5ce7ef7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5ce7ef7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5ce7ef76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5ce7ef76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5ce7ef76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5ce7ef76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5ce7ef76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5ce7ef76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ce7ef76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5ce7ef76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5ce7ef76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5ce7ef76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ce7ef76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5ce7ef76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5ce7ef76e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5ce7ef76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5ce7ef76e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5ce7ef76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5ce7ef76e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5ce7ef76e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1467006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1467006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7eb52d8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7eb52d8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7eb52d83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7eb52d83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7eb52d83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7eb52d83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7eb52d8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7eb52d8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7eb52d83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7eb52d83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7eb52d83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7eb52d83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7eb52d83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7eb52d83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1b2bad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a1b2bad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ca9daf2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ca9daf2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ca9daf23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ca9daf23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ca9daf23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ca9daf23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ca9daf23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ca9daf23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ca9daf23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ca9daf23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ca9daf23d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ca9daf23d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ca9daf23d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ca9daf23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ca9daf23d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ca9daf23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cfb3392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cfb3392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d406a71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d406a71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d406a71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d406a71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d406a719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d406a719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d406a719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d406a719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d406a719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d406a719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d406a719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d406a719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d406a719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d406a719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d406a7193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d406a7193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e56732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e56732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e2e887f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e2e887f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e32bfbe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de32bfbe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e56732a1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e56732a1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e56732a12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de56732a12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e56732a12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e56732a12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e56732a12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e56732a12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e56732a12_2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de56732a12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e56732a12_2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e56732a12_2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e56732a12_2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e56732a12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e32bfbe9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de32bfbe9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6d12bde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6d12bde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0081de25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0081de2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0081de25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0081de25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0081de25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0081de25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0081de25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0081de25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0081de25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0081de25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0081de25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0081de25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0081de25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e0081de25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e56732a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de56732a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0081de25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0081de25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bb18432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bb18432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0081de25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e0081de25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bb184320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bb184320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bb184320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dbb184320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bb184320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bb184320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bb184320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bb184320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bb1843200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dbb1843200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bb1843200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dbb1843200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bb1843200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bb1843200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gif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 of Live Doubt Session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Session starts at 5:15 PM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Weekly recap of topics (via PPT)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Students may post doubts in the chat during the presentation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Topic-wise doubt clarification after the recap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Assignment-related doubts addressed at the end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for Week 3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Convex vs non convex functions.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Order and Second Order Characterization of Convexity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Positive definite and semi-definite matrices.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Hessian Shapes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of Convexity in optimisation.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schemes for unconstrained optimisation.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Gradient Descent Method with example.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Univariate Unconstrained  , Multivariate Unconstrained Optimisations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Fermat’s Rule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Hessian Sufficiency (Diff from Hessian Matrix 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650" y="0"/>
            <a:ext cx="3724399" cy="17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98125" y="-62925"/>
            <a:ext cx="8764500" cy="48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Convex vs Non-Convex Functions</a:t>
            </a:r>
            <a:r>
              <a:rPr lang="en" sz="1500">
                <a:highlight>
                  <a:schemeClr val="accent6"/>
                </a:highlight>
              </a:rPr>
              <a:t> </a:t>
            </a:r>
            <a:r>
              <a:rPr lang="en" sz="1500"/>
              <a:t>:-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Geometric Meaning of Convex</a:t>
            </a:r>
            <a:r>
              <a:rPr lang="en" sz="1500"/>
              <a:t> - </a:t>
            </a:r>
            <a:r>
              <a:rPr lang="en" sz="1200">
                <a:solidFill>
                  <a:schemeClr val="dk1"/>
                </a:solidFill>
              </a:rPr>
              <a:t>Only </a:t>
            </a:r>
            <a:r>
              <a:rPr b="1" lang="en" sz="1200">
                <a:solidFill>
                  <a:schemeClr val="dk1"/>
                </a:solidFill>
              </a:rPr>
              <a:t>one global minimum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 Life Example - </a:t>
            </a:r>
            <a:r>
              <a:rPr b="1" lang="en" sz="1100">
                <a:solidFill>
                  <a:schemeClr val="dk1"/>
                </a:solidFill>
              </a:rPr>
              <a:t>Cost minimization in manufacturing ,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                                     Linear regression loss function (MSE)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00FFFF"/>
                </a:highlight>
              </a:rPr>
              <a:t>Non-Convex Function</a:t>
            </a:r>
            <a:r>
              <a:rPr lang="en" sz="1400">
                <a:solidFill>
                  <a:schemeClr val="dk1"/>
                </a:solidFill>
              </a:rPr>
              <a:t> - </a:t>
            </a:r>
            <a:r>
              <a:rPr lang="en" sz="1200">
                <a:solidFill>
                  <a:schemeClr val="dk1"/>
                </a:solidFill>
              </a:rPr>
              <a:t>Multiple local minima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Hard to find global minimum , Neural networks (deep learning) are non-convex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 Life Example - </a:t>
            </a:r>
            <a:r>
              <a:rPr lang="en" sz="1200">
                <a:solidFill>
                  <a:schemeClr val="dk1"/>
                </a:solidFill>
              </a:rPr>
              <a:t>Deep neural network training , Portfolio optimization with complex constraints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4950" y="2290425"/>
            <a:ext cx="4896100" cy="16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125" y="2290427"/>
            <a:ext cx="3724401" cy="14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03150" y="0"/>
            <a:ext cx="8913000" cy="50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accent6"/>
                </a:highlight>
              </a:rPr>
              <a:t>First Order Characterization of Convexity</a:t>
            </a:r>
            <a:r>
              <a:rPr b="1" lang="en" sz="1400"/>
              <a:t>: -</a:t>
            </a:r>
            <a:r>
              <a:rPr lang="en" sz="1400"/>
              <a:t>  f(y) ≥  f(x) + ∇f(x) T(y−x)</a:t>
            </a:r>
            <a:br>
              <a:rPr lang="en" sz="1400"/>
            </a:br>
            <a:r>
              <a:rPr b="1" lang="en" sz="1300">
                <a:solidFill>
                  <a:schemeClr val="dk1"/>
                </a:solidFill>
              </a:rPr>
              <a:t>Meaning: </a:t>
            </a:r>
            <a:r>
              <a:rPr lang="en" sz="1100">
                <a:solidFill>
                  <a:schemeClr val="dk1"/>
                </a:solidFill>
              </a:rPr>
              <a:t>Function always lies </a:t>
            </a:r>
            <a:r>
              <a:rPr b="1" lang="en" sz="1100">
                <a:solidFill>
                  <a:schemeClr val="dk1"/>
                </a:solidFill>
              </a:rPr>
              <a:t>above its tangent plane.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Intuition: </a:t>
            </a:r>
            <a:r>
              <a:rPr lang="en" sz="1100">
                <a:solidFill>
                  <a:schemeClr val="dk1"/>
                </a:solidFill>
              </a:rPr>
              <a:t>Gradient gives a supporting hyperplane.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Second Order Characterization of Convexity</a:t>
            </a:r>
            <a:r>
              <a:rPr lang="en" sz="1400">
                <a:solidFill>
                  <a:schemeClr val="dk1"/>
                </a:solidFill>
              </a:rPr>
              <a:t>:-  </a:t>
            </a:r>
            <a:r>
              <a:rPr lang="en" sz="1200">
                <a:solidFill>
                  <a:schemeClr val="dk1"/>
                </a:solidFill>
              </a:rPr>
              <a:t>For twice differentiable function</a:t>
            </a:r>
            <a:r>
              <a:rPr lang="en" sz="1400">
                <a:solidFill>
                  <a:schemeClr val="dk1"/>
                </a:solidFill>
              </a:rPr>
              <a:t>: ∇</a:t>
            </a:r>
            <a:r>
              <a:rPr baseline="30000" lang="en" sz="1400">
                <a:solidFill>
                  <a:schemeClr val="dk1"/>
                </a:solidFill>
              </a:rPr>
              <a:t>2 </a:t>
            </a:r>
            <a:r>
              <a:rPr lang="en" sz="1400">
                <a:solidFill>
                  <a:schemeClr val="dk1"/>
                </a:solidFill>
              </a:rPr>
              <a:t>f(x) ⪰ 0 ,→ Strictly convex.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                        (Hessian matrix is positive semi-definite (PSD)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Positive Definite &amp; Semi-Definite Matrices</a:t>
            </a:r>
            <a:r>
              <a:rPr b="1" lang="en" sz="1400">
                <a:solidFill>
                  <a:schemeClr val="dk1"/>
                </a:solidFill>
              </a:rPr>
              <a:t> :- 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Positive Definite (PD):- 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AX &gt; 0 , X = Matrix , X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 = Transpose of Matrix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All eigenvalues &gt; 0 , Surface shaped like bowl , Unique minimum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Positive Semi-Definite (PSD) :-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AX ≥ 0 , X = Matrix , X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 = Transpose of Matrix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Eigenvalues ≥ 0 , Flat directions possible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 Example :-  Covariance matrix in ML → Always PSD.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2575" y="0"/>
            <a:ext cx="9029100" cy="50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accent6"/>
                </a:highlight>
              </a:rPr>
              <a:t>Hessian Shapes:</a:t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00FFFF"/>
                </a:highlight>
              </a:rPr>
              <a:t>Fermat’s Rule:</a:t>
            </a:r>
            <a:r>
              <a:rPr lang="en" sz="1400">
                <a:highlight>
                  <a:schemeClr val="lt1"/>
                </a:highlight>
              </a:rPr>
              <a:t>  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If x∗ is a local minimum and differentiable :- ∇f (x∗) = 0 , x∗ → Optimal solution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Important Condition : </a:t>
            </a:r>
            <a:r>
              <a:rPr lang="en" sz="1200">
                <a:solidFill>
                  <a:schemeClr val="dk1"/>
                </a:solidFill>
              </a:rPr>
              <a:t>Gradient zero is </a:t>
            </a:r>
            <a:r>
              <a:rPr b="1" lang="en" sz="1200">
                <a:solidFill>
                  <a:schemeClr val="dk1"/>
                </a:solidFill>
              </a:rPr>
              <a:t>necessary</a:t>
            </a:r>
            <a:r>
              <a:rPr lang="en" sz="1200">
                <a:solidFill>
                  <a:schemeClr val="dk1"/>
                </a:solidFill>
              </a:rPr>
              <a:t>, not sufficient.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00FF00"/>
                </a:highlight>
              </a:rPr>
              <a:t>Hessian Sufficiency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(How Hessian Sufficiency is Different from Hessian Matrix ?)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                                      Hessian Matrix =     Matrix of second derivatives.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                              Hessian Sufficiency =      Condition using Hessian to classify stationary point.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If  , ∇f(x∗)=0</a:t>
            </a:r>
            <a:b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Hessian PD → Local minimum</a:t>
            </a:r>
            <a:b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Hessian ND → Local maximum</a:t>
            </a:r>
            <a:b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Hessian indefinite → Saddle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115600" y="39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141075"/>
                <a:gridCol w="1141075"/>
                <a:gridCol w="1141075"/>
              </a:tblGrid>
              <a:tr h="4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Hessian Type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Shape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Conclusion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PD (Positive Definite)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Bowl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Local Minima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ND (Non Definite)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Upside Bowl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Local Maxima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Indefinite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Saddle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Saddle Point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825" y="169175"/>
            <a:ext cx="5480375" cy="21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8175" y="-100"/>
            <a:ext cx="9033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Unconstrained Optimization:-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Univariate (Single Variable)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Example: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− 4x +3 ;  Step 1: Derivative : f′(x) = 2x −4 ; Step 2: Set zero : 2x −4 =0 , x =2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                                           Step 3: Second derivative :  f′′(x) = 2 &gt; 0  , Minimum at x = 2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00"/>
                </a:highlight>
              </a:rPr>
              <a:t>Multivariate</a:t>
            </a:r>
            <a:endParaRPr sz="14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Example: f (x,y)=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;  Gradient: ∇f =            ; Set zero : x=0 , y=0  ;  Hessian: H =                      ; PD → Global minimum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Numerical Schemes for Unconstrained Optimization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When analytical solution not possible: 1) Gradient Descent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k+1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​=x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k​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− α ∇ f(x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k​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  2) Newton’s Method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k+1​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k​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−H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−1 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∇ f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                                                           3)Quasi-Newton (BFGS)  - Used in ML libraries.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Line Search</a:t>
            </a:r>
            <a:r>
              <a:rPr b="1" lang="en" sz="1400">
                <a:solidFill>
                  <a:schemeClr val="dk1"/>
                </a:solidFill>
                <a:highlight>
                  <a:schemeClr val="lt1"/>
                </a:highlight>
              </a:rPr>
              <a:t> 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We choose step size α.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Two types: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Exact Line Search</a:t>
            </a:r>
            <a:b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Backtracking Line Search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Goal:  Minimize f(x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− α ∇f)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2948600" y="168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382850"/>
              </a:tblGrid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2x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8" name="Google Shape;88;p18"/>
          <p:cNvGraphicFramePr/>
          <p:nvPr/>
        </p:nvGraphicFramePr>
        <p:xfrm>
          <a:off x="5928900" y="168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382850"/>
                <a:gridCol w="382850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75300" y="39200"/>
            <a:ext cx="90057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Gradient Descent Example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Let: f(x)=x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;  Derivative: f′(x)= 2x ; Update: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k+1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​=x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​−α 2x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k​ 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; If α=0.1 ;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Start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=5 ,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​= 5 − 0.1(10) = 4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​=4 − 0.1(8) = 3.2 , Converges toward zero.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93875" y="48475"/>
            <a:ext cx="8738400" cy="45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Week 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Least square Method.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Step Length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Lipschitz function and Lipschitz Gradient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Exact and Inexact Line search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Inexact Line Search- Armijo and Wolfe’s Conditions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Zountendijk’s Theorum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Backtracking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69150" y="78900"/>
            <a:ext cx="9005700" cy="49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Least Squares Method</a:t>
            </a:r>
            <a:r>
              <a:rPr b="1" lang="en" sz="1400">
                <a:solidFill>
                  <a:schemeClr val="dk1"/>
                </a:solidFill>
              </a:rPr>
              <a:t> - </a:t>
            </a:r>
            <a:r>
              <a:rPr lang="en" sz="1100">
                <a:solidFill>
                  <a:schemeClr val="dk1"/>
                </a:solidFill>
              </a:rPr>
              <a:t>Least Squares finds parameters that </a:t>
            </a:r>
            <a:r>
              <a:rPr b="1" lang="en" sz="1100">
                <a:solidFill>
                  <a:schemeClr val="dk1"/>
                </a:solidFill>
              </a:rPr>
              <a:t>minimize the squared error</a:t>
            </a:r>
            <a:r>
              <a:rPr lang="en" sz="1100">
                <a:solidFill>
                  <a:schemeClr val="dk1"/>
                </a:solidFill>
              </a:rPr>
              <a:t> between predicted values and real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                                       ,    If model is linear : y ​= w</a:t>
            </a:r>
            <a:r>
              <a:rPr baseline="-25000" lang="en" sz="1100">
                <a:solidFill>
                  <a:schemeClr val="dk1"/>
                </a:solidFill>
              </a:rPr>
              <a:t>0</a:t>
            </a:r>
            <a:r>
              <a:rPr lang="en" sz="1100">
                <a:solidFill>
                  <a:schemeClr val="dk1"/>
                </a:solidFill>
              </a:rPr>
              <a:t> ​+ w</a:t>
            </a:r>
            <a:r>
              <a:rPr baseline="-25000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​x . Then w</a:t>
            </a:r>
            <a:r>
              <a:rPr baseline="-25000" lang="en" sz="1100">
                <a:solidFill>
                  <a:schemeClr val="dk1"/>
                </a:solidFill>
              </a:rPr>
              <a:t>0</a:t>
            </a:r>
            <a:r>
              <a:rPr lang="en" sz="1100">
                <a:solidFill>
                  <a:schemeClr val="dk1"/>
                </a:solidFill>
              </a:rPr>
              <a:t>​ , w</a:t>
            </a:r>
            <a:r>
              <a:rPr baseline="-25000" lang="en" sz="1100">
                <a:solidFill>
                  <a:schemeClr val="dk1"/>
                </a:solidFill>
              </a:rPr>
              <a:t>1​ </a:t>
            </a:r>
            <a:r>
              <a:rPr lang="en" sz="1100">
                <a:solidFill>
                  <a:schemeClr val="dk1"/>
                </a:solidFill>
              </a:rPr>
              <a:t>so the </a:t>
            </a:r>
            <a:r>
              <a:rPr b="1" lang="en" sz="1100">
                <a:solidFill>
                  <a:schemeClr val="dk1"/>
                </a:solidFill>
              </a:rPr>
              <a:t>total squared error is minimum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Real Life Example</a:t>
            </a:r>
            <a:r>
              <a:rPr lang="en" sz="1100">
                <a:solidFill>
                  <a:schemeClr val="dk1"/>
                </a:solidFill>
              </a:rPr>
              <a:t> -                        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Model</a:t>
            </a:r>
            <a:r>
              <a:rPr lang="en" sz="1200">
                <a:solidFill>
                  <a:schemeClr val="dk1"/>
                </a:solidFill>
              </a:rPr>
              <a:t> :  Price = w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​+w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× Area , Least squares finds </a:t>
            </a:r>
            <a:r>
              <a:rPr b="1" lang="en" sz="1200">
                <a:solidFill>
                  <a:schemeClr val="dk1"/>
                </a:solidFill>
              </a:rPr>
              <a:t>best line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                                                                </a:t>
            </a:r>
            <a:r>
              <a:rPr b="1" lang="en" sz="1400">
                <a:solidFill>
                  <a:schemeClr val="dk1"/>
                </a:solidFill>
                <a:highlight>
                  <a:srgbClr val="00FF00"/>
                </a:highlight>
              </a:rPr>
              <a:t>AI / ML usage</a:t>
            </a:r>
            <a:r>
              <a:rPr b="1" lang="en" sz="12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Linear Regression , Polynomial Regression , Kalman Filters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450" y="411650"/>
            <a:ext cx="1466900" cy="51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425" y="926875"/>
            <a:ext cx="3519400" cy="24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9600" y="794800"/>
            <a:ext cx="3853200" cy="2466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1"/>
          <p:cNvGraphicFramePr/>
          <p:nvPr/>
        </p:nvGraphicFramePr>
        <p:xfrm>
          <a:off x="181850" y="362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075625"/>
                <a:gridCol w="1075625"/>
              </a:tblGrid>
              <a:tr h="27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Area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Actual Price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50K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55K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0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65K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56725" y="39200"/>
            <a:ext cx="90243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Step Length (Learning Rate)</a:t>
            </a:r>
            <a:r>
              <a:rPr b="1" lang="en" sz="1400">
                <a:solidFill>
                  <a:schemeClr val="dk1"/>
                </a:solidFill>
              </a:rPr>
              <a:t> -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In gradient descent: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x</a:t>
            </a:r>
            <a:r>
              <a:rPr baseline="-25000" lang="en" sz="1400">
                <a:solidFill>
                  <a:schemeClr val="dk1"/>
                </a:solidFill>
              </a:rPr>
              <a:t>k+1​</a:t>
            </a:r>
            <a:r>
              <a:rPr lang="en" sz="1400">
                <a:solidFill>
                  <a:schemeClr val="dk1"/>
                </a:solidFill>
              </a:rPr>
              <a:t>=x</a:t>
            </a:r>
            <a:r>
              <a:rPr baseline="-25000" lang="en" sz="1400">
                <a:solidFill>
                  <a:schemeClr val="dk1"/>
                </a:solidFill>
              </a:rPr>
              <a:t>k</a:t>
            </a:r>
            <a:r>
              <a:rPr lang="en" sz="1400">
                <a:solidFill>
                  <a:schemeClr val="dk1"/>
                </a:solidFill>
              </a:rPr>
              <a:t>​− α ∇f (x</a:t>
            </a:r>
            <a:r>
              <a:rPr baseline="-25000" lang="en" sz="1400">
                <a:solidFill>
                  <a:schemeClr val="dk1"/>
                </a:solidFill>
              </a:rPr>
              <a:t>k</a:t>
            </a:r>
            <a:r>
              <a:rPr lang="en" sz="1400">
                <a:solidFill>
                  <a:schemeClr val="dk1"/>
                </a:solidFill>
              </a:rPr>
              <a:t>​)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</a:rPr>
              <a:t> α - step length / learning rate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If step length is :                                                                                </a:t>
            </a:r>
            <a:r>
              <a:rPr b="1" lang="en" sz="1200">
                <a:solidFill>
                  <a:schemeClr val="dk1"/>
                </a:solidFill>
              </a:rPr>
              <a:t>Real Life Example</a:t>
            </a:r>
            <a:r>
              <a:rPr lang="en" sz="1200">
                <a:solidFill>
                  <a:schemeClr val="dk1"/>
                </a:solidFill>
              </a:rPr>
              <a:t> - Walking downhill 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                                            Big steps → may slip past valley , Small steps → reach slowly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                                           </a:t>
            </a: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 </a:t>
            </a:r>
            <a:r>
              <a:rPr lang="en" sz="1400">
                <a:solidFill>
                  <a:schemeClr val="dk1"/>
                </a:solidFill>
                <a:highlight>
                  <a:srgbClr val="00FF00"/>
                </a:highlight>
              </a:rPr>
              <a:t>AI / ML -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Just keep changing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 sz="1200">
                <a:solidFill>
                  <a:schemeClr val="dk1"/>
                </a:solidFill>
              </a:rPr>
              <a:t>α - 0.1, 0.01 , 0.001 etc 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00" y="436375"/>
            <a:ext cx="8699399" cy="2974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2"/>
          <p:cNvGraphicFramePr/>
          <p:nvPr/>
        </p:nvGraphicFramePr>
        <p:xfrm>
          <a:off x="1376425" y="325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910125"/>
                <a:gridCol w="2285450"/>
              </a:tblGrid>
              <a:tr h="4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Step Size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Result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Too Small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Slow Learning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3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Too Big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Oscillations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Proper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Fast Convergence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0" y="0"/>
            <a:ext cx="9144000" cy="50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Lipschitz Function - </a:t>
            </a:r>
            <a:r>
              <a:rPr lang="en" sz="1100">
                <a:solidFill>
                  <a:schemeClr val="dk1"/>
                </a:solidFill>
              </a:rPr>
              <a:t>A function is </a:t>
            </a:r>
            <a:r>
              <a:rPr b="1" lang="en" sz="1100">
                <a:solidFill>
                  <a:schemeClr val="dk1"/>
                </a:solidFill>
              </a:rPr>
              <a:t>Lipschitz continuous</a:t>
            </a:r>
            <a:r>
              <a:rPr lang="en" sz="1100">
                <a:solidFill>
                  <a:schemeClr val="dk1"/>
                </a:solidFill>
              </a:rPr>
              <a:t> if its slope cannot change too fast.</a:t>
            </a:r>
            <a:r>
              <a:rPr b="1" lang="en" sz="1100">
                <a:solidFill>
                  <a:schemeClr val="dk1"/>
                </a:solidFill>
              </a:rPr>
              <a:t>∣ </a:t>
            </a:r>
            <a:r>
              <a:rPr b="1" lang="en" sz="1100">
                <a:solidFill>
                  <a:schemeClr val="dk1"/>
                </a:solidFill>
              </a:rPr>
              <a:t>f</a:t>
            </a:r>
            <a:r>
              <a:rPr b="1" lang="en" sz="1100">
                <a:solidFill>
                  <a:schemeClr val="dk1"/>
                </a:solidFill>
              </a:rPr>
              <a:t>(x</a:t>
            </a:r>
            <a:r>
              <a:rPr b="1" baseline="-25000" lang="en" sz="1100">
                <a:solidFill>
                  <a:schemeClr val="dk1"/>
                </a:solidFill>
              </a:rPr>
              <a:t>1</a:t>
            </a:r>
            <a:r>
              <a:rPr b="1" lang="en" sz="1100">
                <a:solidFill>
                  <a:schemeClr val="dk1"/>
                </a:solidFill>
              </a:rPr>
              <a:t>​) − f(x</a:t>
            </a:r>
            <a:r>
              <a:rPr b="1" baseline="-25000" lang="en" sz="1100">
                <a:solidFill>
                  <a:schemeClr val="dk1"/>
                </a:solidFill>
              </a:rPr>
              <a:t>2​</a:t>
            </a:r>
            <a:r>
              <a:rPr b="1" lang="en" sz="1100">
                <a:solidFill>
                  <a:schemeClr val="dk1"/>
                </a:solidFill>
              </a:rPr>
              <a:t>) ∣ ≤ L∣ x</a:t>
            </a:r>
            <a:r>
              <a:rPr b="1" baseline="-25000" lang="en" sz="1100">
                <a:solidFill>
                  <a:schemeClr val="dk1"/>
                </a:solidFill>
              </a:rPr>
              <a:t>1​</a:t>
            </a:r>
            <a:r>
              <a:rPr b="1" lang="en" sz="1100">
                <a:solidFill>
                  <a:schemeClr val="dk1"/>
                </a:solidFill>
              </a:rPr>
              <a:t>− x</a:t>
            </a:r>
            <a:r>
              <a:rPr b="1" baseline="-25000" lang="en" sz="1100">
                <a:solidFill>
                  <a:schemeClr val="dk1"/>
                </a:solidFill>
              </a:rPr>
              <a:t>2​</a:t>
            </a:r>
            <a:r>
              <a:rPr b="1" lang="en" sz="1100">
                <a:solidFill>
                  <a:schemeClr val="dk1"/>
                </a:solidFill>
              </a:rPr>
              <a:t>∣</a:t>
            </a:r>
            <a:r>
              <a:rPr lang="en" sz="1100">
                <a:solidFill>
                  <a:schemeClr val="dk1"/>
                </a:solidFill>
              </a:rPr>
              <a:t>,L = Lipschitz constant.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 Life Example : - </a:t>
            </a:r>
            <a:r>
              <a:rPr lang="en" sz="1200">
                <a:solidFill>
                  <a:schemeClr val="dk1"/>
                </a:solidFill>
              </a:rPr>
              <a:t>Speed limit on a road , Car speed cannot change infinitely fast ,Slope of motion = bounded.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 / ML Example :- </a:t>
            </a:r>
            <a:r>
              <a:rPr b="1" lang="en" sz="1200">
                <a:solidFill>
                  <a:schemeClr val="dk1"/>
                </a:solidFill>
              </a:rPr>
              <a:t>                                                                                                                                     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GAN training stability,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Wasserstein GAN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(Generative Adversarial Networks)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75" y="354300"/>
            <a:ext cx="7298474" cy="23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675" y="3188163"/>
            <a:ext cx="3127050" cy="184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2299" y="3162023"/>
            <a:ext cx="3409124" cy="189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7450" y="67050"/>
            <a:ext cx="9015000" cy="50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Lipschitz Gradient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 -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A function has Lipschitz gradient if </a:t>
            </a:r>
            <a:r>
              <a:rPr b="1" lang="en" sz="1200">
                <a:solidFill>
                  <a:schemeClr val="dk1"/>
                </a:solidFill>
              </a:rPr>
              <a:t>∣∣ ∇ f(x) − ∇f(y) ∣∣ ≤ L ∣∣x − y∣∣</a:t>
            </a:r>
            <a:r>
              <a:rPr b="1" lang="en" sz="1200">
                <a:solidFill>
                  <a:schemeClr val="dk1"/>
                </a:solidFill>
              </a:rPr>
              <a:t> ,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Mathematical Meaning:- Gradient changes smoothly.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Why it's Important ? Reason - Ensures </a:t>
            </a:r>
            <a:r>
              <a:rPr b="1" lang="en" sz="1200">
                <a:solidFill>
                  <a:schemeClr val="dk1"/>
                </a:solidFill>
              </a:rPr>
              <a:t>gradient descent converges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ML Example</a:t>
            </a:r>
            <a:r>
              <a:rPr lang="en" sz="1200">
                <a:solidFill>
                  <a:schemeClr val="dk1"/>
                </a:solidFill>
              </a:rPr>
              <a:t> - Loss functions like: Mean Squared Error , Logistic Loss. (have Lipschitz gradients).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Exact Line Search</a:t>
            </a:r>
            <a:r>
              <a:rPr b="1" lang="en" sz="1400">
                <a:solidFill>
                  <a:schemeClr val="dk1"/>
                </a:solidFill>
              </a:rPr>
              <a:t> -</a:t>
            </a:r>
            <a:r>
              <a:rPr lang="en" sz="1200">
                <a:solidFill>
                  <a:schemeClr val="dk1"/>
                </a:solidFill>
              </a:rPr>
              <a:t> We find step size that </a:t>
            </a:r>
            <a:r>
              <a:rPr b="1" lang="en" sz="1200">
                <a:solidFill>
                  <a:schemeClr val="dk1"/>
                </a:solidFill>
              </a:rPr>
              <a:t>exactly minimizes</a:t>
            </a:r>
            <a:r>
              <a:rPr lang="en" sz="1200">
                <a:solidFill>
                  <a:schemeClr val="dk1"/>
                </a:solidFill>
              </a:rPr>
              <a:t> function along search direction. α = arg min f(x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​+ α 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Real Life Example - Finding lowest point </a:t>
            </a:r>
            <a:r>
              <a:rPr b="1" lang="en" sz="1100">
                <a:solidFill>
                  <a:schemeClr val="dk1"/>
                </a:solidFill>
              </a:rPr>
              <a:t>exactly along a straight road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ML Example</a:t>
            </a:r>
            <a:r>
              <a:rPr lang="en" sz="1200">
                <a:solidFill>
                  <a:schemeClr val="dk1"/>
                </a:solidFill>
              </a:rPr>
              <a:t> - Rarely used because of expensive , large datasets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Inexact Line Search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Instead of exact minimum, choose </a:t>
            </a:r>
            <a:r>
              <a:rPr b="1" lang="en" sz="1100">
                <a:solidFill>
                  <a:schemeClr val="dk1"/>
                </a:solidFill>
              </a:rPr>
              <a:t>good enough step size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Faster for real problems.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Used in:- Gradient descent , Quasi-Newton methods 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Deep learning optimizers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22" y="1706222"/>
            <a:ext cx="4202800" cy="23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7450" y="39200"/>
            <a:ext cx="90522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Armijo Condition </a:t>
            </a:r>
            <a:r>
              <a:rPr lang="en" sz="14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Ensures </a:t>
            </a:r>
            <a:r>
              <a:rPr b="1" lang="en" sz="1200">
                <a:solidFill>
                  <a:schemeClr val="dk1"/>
                </a:solidFill>
              </a:rPr>
              <a:t>sufficient decrease</a:t>
            </a:r>
            <a:r>
              <a:rPr lang="en" sz="1200">
                <a:solidFill>
                  <a:schemeClr val="dk1"/>
                </a:solidFill>
              </a:rPr>
              <a:t> in function, </a:t>
            </a:r>
            <a:r>
              <a:rPr b="1" lang="en" sz="1200">
                <a:solidFill>
                  <a:schemeClr val="dk1"/>
                </a:solidFill>
              </a:rPr>
              <a:t>f (x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lang="en" sz="1200">
                <a:solidFill>
                  <a:schemeClr val="dk1"/>
                </a:solidFill>
              </a:rPr>
              <a:t>​+α d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lang="en" sz="1200">
                <a:solidFill>
                  <a:schemeClr val="dk1"/>
                </a:solidFill>
              </a:rPr>
              <a:t>​) ≤ f (x</a:t>
            </a:r>
            <a:r>
              <a:rPr b="1" baseline="-25000" lang="en" sz="1200">
                <a:solidFill>
                  <a:schemeClr val="dk1"/>
                </a:solidFill>
              </a:rPr>
              <a:t>k​</a:t>
            </a:r>
            <a:r>
              <a:rPr b="1" lang="en" sz="1200">
                <a:solidFill>
                  <a:schemeClr val="dk1"/>
                </a:solidFill>
              </a:rPr>
              <a:t>) + c</a:t>
            </a:r>
            <a:r>
              <a:rPr b="1" baseline="-25000" lang="en" sz="1200">
                <a:solidFill>
                  <a:schemeClr val="dk1"/>
                </a:solidFill>
              </a:rPr>
              <a:t>1</a:t>
            </a:r>
            <a:r>
              <a:rPr b="1" lang="en" sz="1200">
                <a:solidFill>
                  <a:schemeClr val="dk1"/>
                </a:solidFill>
              </a:rPr>
              <a:t>​ α ∇f (x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lang="en" sz="1200">
                <a:solidFill>
                  <a:schemeClr val="dk1"/>
                </a:solidFill>
              </a:rPr>
              <a:t>​)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d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Mathematical</a:t>
            </a:r>
            <a:r>
              <a:rPr lang="en" sz="1200">
                <a:solidFill>
                  <a:schemeClr val="dk1"/>
                </a:solidFill>
              </a:rPr>
              <a:t> Meaning : Step must reduce loss sufficiently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 Life Example -  Negotiation discount (we </a:t>
            </a:r>
            <a:r>
              <a:rPr lang="en" sz="1100">
                <a:solidFill>
                  <a:schemeClr val="dk1"/>
                </a:solidFill>
              </a:rPr>
              <a:t>accept </a:t>
            </a:r>
            <a:r>
              <a:rPr b="1" lang="en" sz="1100">
                <a:solidFill>
                  <a:schemeClr val="dk1"/>
                </a:solidFill>
              </a:rPr>
              <a:t>reasonable discount</a:t>
            </a:r>
            <a:r>
              <a:rPr lang="en" sz="1100">
                <a:solidFill>
                  <a:schemeClr val="dk1"/>
                </a:solidFill>
              </a:rPr>
              <a:t>, not perfect one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ML Example</a:t>
            </a:r>
            <a:r>
              <a:rPr lang="en" sz="1200">
                <a:solidFill>
                  <a:schemeClr val="dk1"/>
                </a:solidFill>
              </a:rPr>
              <a:t> - Used in : Backtracking line search , Large scale optimization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Wolfe Conditions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Two conditions - 1) Armijo condition - Decrease condition , 2) Curvature condition : ∇f (x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​+ α 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​)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≥ c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 ∇f (x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​)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Ensures slope is reduced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Why it’s Important ? Reason - Guarantees convergence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ML Example</a:t>
            </a:r>
            <a:r>
              <a:rPr b="1" lang="en" sz="1200">
                <a:solidFill>
                  <a:schemeClr val="dk1"/>
                </a:solidFill>
              </a:rPr>
              <a:t> :- </a:t>
            </a:r>
            <a:r>
              <a:rPr lang="en" sz="1200">
                <a:solidFill>
                  <a:schemeClr val="dk1"/>
                </a:solidFill>
              </a:rPr>
              <a:t>Used in: BFGS optimizer , L-BFGS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Zoutendijk’s Theorem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It states: if 1) descent direction used and 2)Wolfe conditions satisfied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Then 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 ∑ cos</a:t>
            </a:r>
            <a:r>
              <a:rPr b="1"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(θ</a:t>
            </a:r>
            <a:r>
              <a:rPr b="1"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​) ∣∣ ∇f( x</a:t>
            </a:r>
            <a:r>
              <a:rPr b="1"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​) ∣∣</a:t>
            </a:r>
            <a:r>
              <a:rPr b="1"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&lt; ∞  , Mathematical 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meaning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 -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Gradient approaches zero (So algorithm converges).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Real Life Meaning- </a:t>
            </a:r>
            <a:r>
              <a:rPr lang="en" sz="1100">
                <a:solidFill>
                  <a:schemeClr val="dk1"/>
                </a:solidFill>
              </a:rPr>
              <a:t>If we keep moving </a:t>
            </a:r>
            <a:r>
              <a:rPr b="1" lang="en" sz="1100">
                <a:solidFill>
                  <a:schemeClr val="dk1"/>
                </a:solidFill>
              </a:rPr>
              <a:t>downhill properly</a:t>
            </a:r>
            <a:r>
              <a:rPr lang="en" sz="1100">
                <a:solidFill>
                  <a:schemeClr val="dk1"/>
                </a:solidFill>
              </a:rPr>
              <a:t>, we will eventually reach valley.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8175" y="39200"/>
            <a:ext cx="9052200" cy="50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 Backtracking Line Search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Simple algorithm to choose step size.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Start with : α = 1 , Then reduce: α = βα , until Armijo condition satisfied.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Real Life Example - We trying to park car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If car goes too far: reverse slightly , adjust steps.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ML Example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:- Backtracking used in : Newton optimization ,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                                                           Deep learning training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803" y="39200"/>
            <a:ext cx="3989576" cy="292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75300" y="48475"/>
            <a:ext cx="90057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Week 5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Table of Gradient Descent Variants: SGD, Mini-batch GD, Momentum, AdaGrad, RMSProp, Adam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Pure Newton’s Method and Damped Newton Method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Quasi Newton Method and it’s methods: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Davidon-Flecher powel Method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BFGS Method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8175" y="39200"/>
            <a:ext cx="90429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Gradient Descent Variants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 -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Gradient descent minimizes a loss function :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 ​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=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− α ∇f(x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k​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)</a:t>
            </a:r>
            <a:endParaRPr b="1"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Where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k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 = current parameters , α = learning rate , ∇ f(x) = gradient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SGD (Stochastic Gradient Descent)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: </a:t>
            </a: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θ = θ − α ∇f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 i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 ​(θ)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 , </a:t>
            </a: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one data point at a time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:- Learning to play cricket. (we </a:t>
            </a:r>
            <a:r>
              <a:rPr lang="en" sz="1100">
                <a:solidFill>
                  <a:schemeClr val="dk1"/>
                </a:solidFill>
              </a:rPr>
              <a:t>adjust our technique after each ball.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- Neural networks , Online recommendation systems , Reinforcement learning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150" name="Google Shape;150;p28"/>
          <p:cNvGraphicFramePr/>
          <p:nvPr/>
        </p:nvGraphicFramePr>
        <p:xfrm>
          <a:off x="284025" y="81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326975"/>
                <a:gridCol w="2608225"/>
                <a:gridCol w="2896000"/>
                <a:gridCol w="1884050"/>
              </a:tblGrid>
              <a:tr h="39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Method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Idea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Real life Analogy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AI/ML Usage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SGD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 one Data Sample at a time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Learning from 1 Mistake at a time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Online Learning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Mini - Batch GD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 small batch of data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Studying</a:t>
                      </a:r>
                      <a:r>
                        <a:rPr lang="en" sz="1200"/>
                        <a:t> few Problems at once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Deep Learing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Momentum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Uses past direction to accelerate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Rolling Ball gaining speed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CNN Training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AdaGrad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Learning rate adjusts per parameter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Slowing down after many steps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NLP Sparse Features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RMS Prop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Fixes AdaGrad Decay issue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Adaptive walking speed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RNN Training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Adam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Combines Momentum + RMSProp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Smart driver adjusting speed &amp; direction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Most Common Optimiser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45900" y="51000"/>
            <a:ext cx="9052200" cy="50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Mini-Batch Gradient Descent</a:t>
            </a:r>
            <a:r>
              <a:rPr lang="en" sz="1400">
                <a:solidFill>
                  <a:schemeClr val="dk1"/>
                </a:solidFill>
              </a:rPr>
              <a:t> :</a:t>
            </a:r>
            <a:r>
              <a:rPr lang="en" sz="1200">
                <a:solidFill>
                  <a:schemeClr val="dk1"/>
                </a:solidFill>
              </a:rPr>
              <a:t> Uses small batch of data. Example a Batch size = 16 /18 /20 /26 /30.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Instead of correcting after every exam question, you analyze 20 questions together.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Most deep learning training uses: 16 , 32 ,64,128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Momentum</a:t>
            </a:r>
            <a:r>
              <a:rPr lang="en" sz="1400">
                <a:solidFill>
                  <a:schemeClr val="dk1"/>
                </a:solidFill>
              </a:rPr>
              <a:t> :- </a:t>
            </a:r>
            <a:r>
              <a:rPr lang="en" sz="1200">
                <a:solidFill>
                  <a:schemeClr val="dk1"/>
                </a:solidFill>
              </a:rPr>
              <a:t>Update rule: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v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= β v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t−1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+ α ∇f(x)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t+1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=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t​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− v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t​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</a:t>
            </a:r>
            <a:r>
              <a:rPr lang="en" sz="1200">
                <a:solidFill>
                  <a:schemeClr val="dk1"/>
                </a:solidFill>
              </a:rPr>
              <a:t>(</a:t>
            </a:r>
            <a:r>
              <a:rPr lang="en" sz="1100">
                <a:solidFill>
                  <a:schemeClr val="dk1"/>
                </a:solidFill>
              </a:rPr>
              <a:t>Uses </a:t>
            </a:r>
            <a:r>
              <a:rPr b="1" lang="en" sz="1100">
                <a:solidFill>
                  <a:schemeClr val="dk1"/>
                </a:solidFill>
              </a:rPr>
              <a:t>past gradients</a:t>
            </a:r>
            <a:r>
              <a:rPr lang="en" sz="1100">
                <a:solidFill>
                  <a:schemeClr val="dk1"/>
                </a:solidFill>
              </a:rPr>
              <a:t> to accelerate.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Rolling a </a:t>
            </a:r>
            <a:r>
              <a:rPr b="1" lang="en" sz="1200">
                <a:solidFill>
                  <a:schemeClr val="dk1"/>
                </a:solidFill>
              </a:rPr>
              <a:t>heavy ball downhill</a:t>
            </a:r>
            <a:r>
              <a:rPr lang="en" sz="1200">
                <a:solidFill>
                  <a:schemeClr val="dk1"/>
                </a:solidFill>
              </a:rPr>
              <a:t>. (Momentum keeps it moving.)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Used in training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CNN models , computer vision networks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0" y="1654675"/>
            <a:ext cx="3565174" cy="183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1075" y="1654675"/>
            <a:ext cx="5439050" cy="33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56725" y="57775"/>
            <a:ext cx="90243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AdaGrad</a:t>
            </a:r>
            <a:r>
              <a:rPr lang="en" sz="14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Adapts learning rate per parameter.                                                    Where G</a:t>
            </a:r>
            <a:r>
              <a:rPr baseline="-25000" lang="en" sz="1200">
                <a:solidFill>
                  <a:schemeClr val="dk1"/>
                </a:solidFill>
              </a:rPr>
              <a:t>t​ </a:t>
            </a:r>
            <a:r>
              <a:rPr lang="en" sz="1200">
                <a:solidFill>
                  <a:schemeClr val="dk1"/>
                </a:solidFill>
              </a:rPr>
              <a:t> is sum of squared gradients.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When learning piano (</a:t>
            </a:r>
            <a:r>
              <a:rPr lang="en" sz="1100">
                <a:solidFill>
                  <a:schemeClr val="dk1"/>
                </a:solidFill>
              </a:rPr>
              <a:t>we practice </a:t>
            </a:r>
            <a:r>
              <a:rPr b="1" lang="en" sz="1100">
                <a:solidFill>
                  <a:schemeClr val="dk1"/>
                </a:solidFill>
              </a:rPr>
              <a:t>difficult keys more carefully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200">
                <a:solidFill>
                  <a:schemeClr val="dk1"/>
                </a:solidFill>
              </a:rPr>
              <a:t>)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Sparse datasets , NLP tasks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RMSProp </a:t>
            </a:r>
            <a:r>
              <a:rPr lang="en" sz="14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Fixes AdaGrad problem (learning rate decay). 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E [g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] 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 ​= β E [g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]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 t−1​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+ (1−β) g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t</a:t>
            </a:r>
            <a:r>
              <a:rPr b="1" baseline="-25000" lang="en" sz="1400">
                <a:solidFill>
                  <a:schemeClr val="dk1"/>
                </a:solidFill>
                <a:highlight>
                  <a:srgbClr val="00FFFF"/>
                </a:highlight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Walking on terrain while adjusting step length dynamically.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: RNN training , speech recognition models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Adam (Adaptive Moment Estimation)</a:t>
            </a:r>
            <a:r>
              <a:rPr lang="en" sz="14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It Combines - Momentum + RMSProp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Smart driver ( remembers past speed + adjusts according to road conditions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Most common optimizer : transformers , GPT models , computer vision , reinforcement learning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Newton’s Method</a:t>
            </a:r>
            <a:r>
              <a:rPr lang="en" sz="14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Uses </a:t>
            </a:r>
            <a:r>
              <a:rPr b="1" lang="en" sz="1200">
                <a:solidFill>
                  <a:schemeClr val="dk1"/>
                </a:solidFill>
              </a:rPr>
              <a:t>second derivative (Hessian)</a:t>
            </a:r>
            <a:r>
              <a:rPr lang="en" sz="1200">
                <a:solidFill>
                  <a:schemeClr val="dk1"/>
                </a:solidFill>
              </a:rPr>
              <a:t>. 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=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 k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− H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−1 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∇f </a:t>
            </a:r>
            <a:r>
              <a:rPr b="1" lang="en" sz="1200">
                <a:solidFill>
                  <a:schemeClr val="dk1"/>
                </a:solidFill>
              </a:rPr>
              <a:t>, </a:t>
            </a:r>
            <a:r>
              <a:rPr lang="en" sz="1200">
                <a:solidFill>
                  <a:schemeClr val="dk1"/>
                </a:solidFill>
              </a:rPr>
              <a:t>where H = Hessian matrix.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Using </a:t>
            </a:r>
            <a:r>
              <a:rPr b="1" lang="en" sz="1200">
                <a:solidFill>
                  <a:schemeClr val="dk1"/>
                </a:solidFill>
              </a:rPr>
              <a:t>curvature of road</a:t>
            </a:r>
            <a:r>
              <a:rPr lang="en" sz="1200">
                <a:solidFill>
                  <a:schemeClr val="dk1"/>
                </a:solidFill>
              </a:rPr>
              <a:t> to drive faster toward destination.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logistic regression , convex optimization problems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Damped Newton Method </a:t>
            </a:r>
            <a:r>
              <a:rPr b="1" lang="en" sz="1400">
                <a:solidFill>
                  <a:schemeClr val="dk1"/>
                </a:solidFill>
              </a:rPr>
              <a:t>:</a:t>
            </a:r>
            <a:r>
              <a:rPr lang="en" sz="1200">
                <a:solidFill>
                  <a:schemeClr val="dk1"/>
                </a:solidFill>
              </a:rPr>
              <a:t> Modified Newton method.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 ​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=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k​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− α H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−1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∇f </a:t>
            </a:r>
            <a:r>
              <a:rPr b="1" lang="en" sz="1200">
                <a:solidFill>
                  <a:schemeClr val="dk1"/>
                </a:solidFill>
              </a:rPr>
              <a:t>, </a:t>
            </a:r>
            <a:r>
              <a:rPr lang="en" sz="1200">
                <a:solidFill>
                  <a:schemeClr val="dk1"/>
                </a:solidFill>
              </a:rPr>
              <a:t>where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α &lt; 1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to avoid overshooting.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Driving downhill with </a:t>
            </a:r>
            <a:r>
              <a:rPr b="1" lang="en" sz="1200">
                <a:solidFill>
                  <a:schemeClr val="dk1"/>
                </a:solidFill>
              </a:rPr>
              <a:t>controlled braking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 - Used when Newton method becomes unstable.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8050" y="57775"/>
            <a:ext cx="1908600" cy="3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325" y="1916600"/>
            <a:ext cx="3026700" cy="8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8175" y="57775"/>
            <a:ext cx="90429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Quasi-Newton Methods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 </a:t>
            </a:r>
            <a:r>
              <a:rPr lang="en" sz="14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Newton requires computing Hessian , But Hessian is expensive . So we </a:t>
            </a:r>
            <a:r>
              <a:rPr b="1" lang="en" sz="1200">
                <a:solidFill>
                  <a:schemeClr val="dk1"/>
                </a:solidFill>
              </a:rPr>
              <a:t>approximate Hessian.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Method - Instead of computing H, we update an approximation B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 .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Davidon-Fletcher-Powell (DFP)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: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One of the first quasi-Newton methods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Formula :                                                                          Where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s =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k+1​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−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k​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,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y = ∇f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− ∇f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k​ 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, </a:t>
            </a: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b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Real-Life Example : </a:t>
            </a:r>
            <a:r>
              <a:rPr lang="en" sz="1200">
                <a:solidFill>
                  <a:schemeClr val="dk1"/>
                </a:solidFill>
              </a:rPr>
              <a:t>Improving a </a:t>
            </a:r>
            <a:r>
              <a:rPr b="1" lang="en" sz="1200">
                <a:solidFill>
                  <a:schemeClr val="dk1"/>
                </a:solidFill>
              </a:rPr>
              <a:t>map of terrain while walking , </a:t>
            </a:r>
            <a:r>
              <a:rPr lang="en" sz="1200">
                <a:solidFill>
                  <a:schemeClr val="dk1"/>
                </a:solidFill>
              </a:rPr>
              <a:t>You refine curvature estimates as you move.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 </a:t>
            </a:r>
            <a:r>
              <a:rPr lang="en" sz="1200">
                <a:solidFill>
                  <a:schemeClr val="dk1"/>
                </a:solidFill>
              </a:rPr>
              <a:t>: Used in optimization libraries.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BFGS Method</a:t>
            </a:r>
            <a:r>
              <a:rPr lang="en" sz="14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Improved version of DFP, most widely used quasi-Newton method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Why BFGS is used more ? Reason :  Stable , Fast convergence ,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Good for medium-scale problems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 GPS navigation improving </a:t>
            </a:r>
            <a:r>
              <a:rPr b="1" lang="en" sz="1200">
                <a:solidFill>
                  <a:schemeClr val="dk1"/>
                </a:solidFill>
              </a:rPr>
              <a:t>route estimation</a:t>
            </a:r>
            <a:r>
              <a:rPr lang="en" sz="1200">
                <a:solidFill>
                  <a:schemeClr val="dk1"/>
                </a:solidFill>
              </a:rPr>
              <a:t> after each step.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Example</a:t>
            </a:r>
            <a:r>
              <a:rPr lang="en" sz="1200">
                <a:solidFill>
                  <a:schemeClr val="dk1"/>
                </a:solidFill>
              </a:rPr>
              <a:t>: scikit-learn optimization , logistic regression ,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support vector machines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Variant : </a:t>
            </a:r>
            <a:r>
              <a:rPr b="1" lang="en" sz="1200">
                <a:solidFill>
                  <a:schemeClr val="dk1"/>
                </a:solidFill>
              </a:rPr>
              <a:t>L-BFGS</a:t>
            </a:r>
            <a:r>
              <a:rPr lang="en" sz="1200">
                <a:solidFill>
                  <a:schemeClr val="dk1"/>
                </a:solidFill>
              </a:rPr>
              <a:t> used for large datasets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( BFGS : Broyden-Fletcher-Goldfarb-Shanno 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275" y="1016600"/>
            <a:ext cx="2998825" cy="5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375" y="2407925"/>
            <a:ext cx="2784101" cy="267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55200" y="60300"/>
            <a:ext cx="90336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Mathematical approach (Explaining Difference in all the Above Methods) 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Let : 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Goal:  min f(x)  , Derivative:  ∇ f(x) = 2x , Start from: x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= 4 , Learning rate: α = 0.1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SGD (Stochastic Gradient Descent)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Rule : x</a:t>
            </a:r>
            <a:r>
              <a:rPr baseline="-25000" lang="en" sz="1200">
                <a:solidFill>
                  <a:schemeClr val="dk1"/>
                </a:solidFill>
              </a:rPr>
              <a:t>k+1 </a:t>
            </a:r>
            <a:r>
              <a:rPr lang="en" sz="1200">
                <a:solidFill>
                  <a:schemeClr val="dk1"/>
                </a:solidFill>
              </a:rPr>
              <a:t>​= x</a:t>
            </a:r>
            <a:r>
              <a:rPr baseline="-25000" lang="en" sz="1200">
                <a:solidFill>
                  <a:schemeClr val="dk1"/>
                </a:solidFill>
              </a:rPr>
              <a:t>k​ </a:t>
            </a:r>
            <a:r>
              <a:rPr lang="en" sz="1200">
                <a:solidFill>
                  <a:schemeClr val="dk1"/>
                </a:solidFill>
              </a:rPr>
              <a:t>− α (2x</a:t>
            </a:r>
            <a:r>
              <a:rPr baseline="-25000" lang="en" sz="1200">
                <a:solidFill>
                  <a:schemeClr val="dk1"/>
                </a:solidFill>
              </a:rPr>
              <a:t>k​</a:t>
            </a:r>
            <a:r>
              <a:rPr lang="en" sz="1200">
                <a:solidFill>
                  <a:schemeClr val="dk1"/>
                </a:solidFill>
              </a:rPr>
              <a:t>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1 :-  Gradient  g = 2(4) = 8 , Update 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​= 4 − 0.1 (8)  , x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​= 3.2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2 :-  g = 2 (3.2) = 6.4 , x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 = 3.2 − 0.1 (6.4) , x</a:t>
            </a:r>
            <a:r>
              <a:rPr baseline="-25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= 2.56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SGD slowly approaches minimum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Mini-Batch Gradient Descent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Lets take dataset has 4 samples :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Mini-batch size = 2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Average gradient:  g = (2+4) /2 = 3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Now Update :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​= 4 − 0.1 (3)  ,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 = 3.7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- </a:t>
            </a:r>
            <a:r>
              <a:rPr lang="en" sz="1200">
                <a:solidFill>
                  <a:schemeClr val="dk1"/>
                </a:solidFill>
              </a:rPr>
              <a:t>Mini-batch gives </a:t>
            </a:r>
            <a:r>
              <a:rPr b="1" lang="en" sz="1200">
                <a:solidFill>
                  <a:schemeClr val="dk1"/>
                </a:solidFill>
              </a:rPr>
              <a:t>more stable update than SGD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77" name="Google Shape;177;p32"/>
          <p:cNvGraphicFramePr/>
          <p:nvPr/>
        </p:nvGraphicFramePr>
        <p:xfrm>
          <a:off x="4572000" y="192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382850"/>
                <a:gridCol w="860275"/>
              </a:tblGrid>
              <a:tr h="38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gradient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56725" y="48475"/>
            <a:ext cx="90243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Momentum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Velocity formula : v</a:t>
            </a:r>
            <a:r>
              <a:rPr baseline="-25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​ = β v</a:t>
            </a:r>
            <a:r>
              <a:rPr baseline="-25000" lang="en" sz="1200">
                <a:solidFill>
                  <a:schemeClr val="dk1"/>
                </a:solidFill>
              </a:rPr>
              <a:t>t −1</a:t>
            </a:r>
            <a:r>
              <a:rPr lang="en" sz="1200">
                <a:solidFill>
                  <a:schemeClr val="dk1"/>
                </a:solidFill>
              </a:rPr>
              <a:t>​+ α g  , Let  </a:t>
            </a:r>
            <a:r>
              <a:rPr b="1" lang="en" sz="1200">
                <a:solidFill>
                  <a:schemeClr val="dk1"/>
                </a:solidFill>
              </a:rPr>
              <a:t>β = 0.9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1 :  g = 8  ,  v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0.9 (0) + 0.1 (8) , v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0.8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Now  Update 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​= 4 − 0.8  , x</a:t>
            </a:r>
            <a:r>
              <a:rPr baseline="-25000" lang="en" sz="1200">
                <a:solidFill>
                  <a:schemeClr val="dk1"/>
                </a:solidFill>
              </a:rPr>
              <a:t>1 ​</a:t>
            </a:r>
            <a:r>
              <a:rPr lang="en" sz="1200">
                <a:solidFill>
                  <a:schemeClr val="dk1"/>
                </a:solidFill>
              </a:rPr>
              <a:t>= 3.2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2  : g = 6.4 , v</a:t>
            </a:r>
            <a:r>
              <a:rPr baseline="-25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​= 0.9 (0.8) + 0.1 (6.4) , v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​= 0.72 + 0.64 , v</a:t>
            </a:r>
            <a:r>
              <a:rPr baseline="-25000" lang="en" sz="1200">
                <a:solidFill>
                  <a:schemeClr val="dk1"/>
                </a:solidFill>
              </a:rPr>
              <a:t>2​</a:t>
            </a:r>
            <a:r>
              <a:rPr lang="en" sz="1200">
                <a:solidFill>
                  <a:schemeClr val="dk1"/>
                </a:solidFill>
              </a:rPr>
              <a:t>= 1.36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Now Update : x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 = 3.2 − 1.36 , x</a:t>
            </a:r>
            <a:r>
              <a:rPr baseline="-25000" lang="en" sz="1200">
                <a:solidFill>
                  <a:schemeClr val="dk1"/>
                </a:solidFill>
              </a:rPr>
              <a:t>2 ​</a:t>
            </a:r>
            <a:r>
              <a:rPr lang="en" sz="1200">
                <a:solidFill>
                  <a:schemeClr val="dk1"/>
                </a:solidFill>
              </a:rPr>
              <a:t>= 1.84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Momentum moves </a:t>
            </a:r>
            <a:r>
              <a:rPr b="1" lang="en" sz="1200">
                <a:solidFill>
                  <a:schemeClr val="dk1"/>
                </a:solidFill>
              </a:rPr>
              <a:t>faster than SGD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AdaGrad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Learning rate becomes -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Iteration 1 : g = 8 , G = 8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 64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Effective learning rate : α = 0.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1/ 8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, α = 0.0125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Now Update :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1​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 4 − 0.0125 (8) ,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1​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 3.9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- Learning rate decreases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475" y="2378850"/>
            <a:ext cx="1244075" cy="5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8175" y="57775"/>
            <a:ext cx="9052200" cy="50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RMSProp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Uses moving average of squared gradient.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Let assume :  β = 0.9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Iteration 1 : g = 8 ,  E [g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] = 0.9 (0) + 0.1 (64) , E [g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] = 6.4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Now Update :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1​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 4 − [ 0.1(8)  / Sqrt 6.4 ]​  ,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​≈ 4 − 0.316 , x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​≈ 3.684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- </a:t>
            </a:r>
            <a:r>
              <a:rPr lang="en" sz="1200">
                <a:solidFill>
                  <a:schemeClr val="dk1"/>
                </a:solidFill>
              </a:rPr>
              <a:t>RMSProp keeps learning rate </a:t>
            </a:r>
            <a:r>
              <a:rPr b="1" lang="en" sz="1200">
                <a:solidFill>
                  <a:schemeClr val="dk1"/>
                </a:solidFill>
              </a:rPr>
              <a:t>stable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Adam Optimizer (</a:t>
            </a:r>
            <a:r>
              <a:rPr lang="en" sz="1200">
                <a:solidFill>
                  <a:schemeClr val="dk1"/>
                </a:solidFill>
              </a:rPr>
              <a:t>Uses two moments </a:t>
            </a: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First moment: m = β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m + ( 1− β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 )g  ,  Second moment : v = β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 v + ( 1 − β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​) g</a:t>
            </a:r>
            <a:r>
              <a:rPr baseline="30000" lang="en" sz="1200">
                <a:solidFill>
                  <a:schemeClr val="dk1"/>
                </a:solidFill>
              </a:rPr>
              <a:t>2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Let take : β1​ = 0.9 , β2 ​= 0.999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1 :  g = 8 , m = 0.8 , v = 0.064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Now Update : x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= 4 − [ ​0.1(0.8) / sqrt 0.064  ] ​ ,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​≈ 3.0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Adam converges </a:t>
            </a:r>
            <a:r>
              <a:rPr b="1" lang="en" sz="1200">
                <a:solidFill>
                  <a:schemeClr val="dk1"/>
                </a:solidFill>
              </a:rPr>
              <a:t>very fast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8175" y="39200"/>
            <a:ext cx="90429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Pure Newton Method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Formula : x</a:t>
            </a:r>
            <a:r>
              <a:rPr baseline="-25000" lang="en" sz="1200">
                <a:solidFill>
                  <a:schemeClr val="dk1"/>
                </a:solidFill>
              </a:rPr>
              <a:t>k+1​ </a:t>
            </a:r>
            <a:r>
              <a:rPr lang="en" sz="1200">
                <a:solidFill>
                  <a:schemeClr val="dk1"/>
                </a:solidFill>
              </a:rPr>
              <a:t>= x</a:t>
            </a:r>
            <a:r>
              <a:rPr baseline="-25000" lang="en" sz="1200">
                <a:solidFill>
                  <a:schemeClr val="dk1"/>
                </a:solidFill>
              </a:rPr>
              <a:t>k​ </a:t>
            </a:r>
            <a:r>
              <a:rPr lang="en" sz="1200">
                <a:solidFill>
                  <a:schemeClr val="dk1"/>
                </a:solidFill>
              </a:rPr>
              <a:t>−  [ f′(x) / f′′(x) ]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take : f(x) = x</a:t>
            </a:r>
            <a:r>
              <a:rPr baseline="30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 , f′(x) = 2x , f′′(x) =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1 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​= 4 − [ 8/ 2 ]  , x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Newton reaches </a:t>
            </a:r>
            <a:r>
              <a:rPr b="1" lang="en" sz="1200">
                <a:solidFill>
                  <a:schemeClr val="dk1"/>
                </a:solidFill>
              </a:rPr>
              <a:t>minimum in one step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Damped Newton Method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adding step size:  x</a:t>
            </a:r>
            <a:r>
              <a:rPr baseline="-25000" lang="en" sz="1200">
                <a:solidFill>
                  <a:schemeClr val="dk1"/>
                </a:solidFill>
              </a:rPr>
              <a:t>k+1</a:t>
            </a:r>
            <a:r>
              <a:rPr lang="en" sz="1200">
                <a:solidFill>
                  <a:schemeClr val="dk1"/>
                </a:solidFill>
              </a:rPr>
              <a:t>​= x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− α ( f′​ / </a:t>
            </a:r>
            <a:r>
              <a:rPr lang="en" sz="1200">
                <a:solidFill>
                  <a:schemeClr val="dk1"/>
                </a:solidFill>
              </a:rPr>
              <a:t> f′′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Let α = 0.5 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1 : x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= 4 − 0.5 (4)  ,  x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Iteration 2 : x</a:t>
            </a:r>
            <a:r>
              <a:rPr baseline="-25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= 2 − 0.5 (2) ,  x</a:t>
            </a:r>
            <a:r>
              <a:rPr baseline="-25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More stable than pure Newton.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Quasi Newton Method: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Newton requires Hessian: 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Since computing Hessian is expensive.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Quasi-Newton </a:t>
            </a:r>
            <a:r>
              <a:rPr b="1" lang="en" sz="1200">
                <a:solidFill>
                  <a:schemeClr val="dk1"/>
                </a:solidFill>
              </a:rPr>
              <a:t>approximates Hessian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idx="1" type="body"/>
          </p:nvPr>
        </p:nvSpPr>
        <p:spPr>
          <a:xfrm>
            <a:off x="47450" y="39200"/>
            <a:ext cx="90243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DFP Method (Numerical 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Let  x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4 , Gradient : g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= 8 ,  Shifting  to :  x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= 3 ,  New gradient : g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= 6  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Compute  s =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​− x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−1 ,  y = g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​− 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 = −2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DFP updates approximate Hessian using  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It improves curvature estimate each step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BFGS Method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More stable update: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 if  : s = - 1 ,  y = - 2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</a:t>
            </a:r>
            <a:r>
              <a:rPr lang="en" sz="1200">
                <a:solidFill>
                  <a:schemeClr val="dk1"/>
                </a:solidFill>
              </a:rPr>
              <a:t> - New Hessian estimate improves search direction 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BFGS converges much faster than gradient descent.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 AI/ML Example - Loss  L(θ) , Optimization : θ</a:t>
            </a:r>
            <a:r>
              <a:rPr baseline="-25000" lang="en" sz="1200">
                <a:solidFill>
                  <a:schemeClr val="dk1"/>
                </a:solidFill>
              </a:rPr>
              <a:t>k+1​</a:t>
            </a:r>
            <a:r>
              <a:rPr lang="en" sz="1200">
                <a:solidFill>
                  <a:schemeClr val="dk1"/>
                </a:solidFill>
              </a:rPr>
              <a:t>= θ</a:t>
            </a:r>
            <a:r>
              <a:rPr baseline="-25000" lang="en" sz="1200">
                <a:solidFill>
                  <a:schemeClr val="dk1"/>
                </a:solidFill>
              </a:rPr>
              <a:t>k​ </a:t>
            </a:r>
            <a:r>
              <a:rPr lang="en" sz="1200">
                <a:solidFill>
                  <a:schemeClr val="dk1"/>
                </a:solidFill>
              </a:rPr>
              <a:t>− α ∇L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99" name="Google Shape;1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625" y="974250"/>
            <a:ext cx="3347550" cy="5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8625" y="2032025"/>
            <a:ext cx="3175225" cy="65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36"/>
          <p:cNvGraphicFramePr/>
          <p:nvPr/>
        </p:nvGraphicFramePr>
        <p:xfrm>
          <a:off x="4893850" y="322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648825"/>
                <a:gridCol w="1648825"/>
              </a:tblGrid>
              <a:tr h="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AI model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Optimizer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CNN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Momentum / Adam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RNN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RMSProp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Transformers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Adam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Logistic Regression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BFGS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47450" y="39200"/>
            <a:ext cx="90243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Questions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+ 2 x      , Ans : x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= 1.4 ,  x</a:t>
            </a:r>
            <a:r>
              <a:rPr baseline="-25000" lang="en" sz="1200">
                <a:solidFill>
                  <a:schemeClr val="dk1"/>
                </a:solidFill>
              </a:rPr>
              <a:t>2​</a:t>
            </a:r>
            <a:r>
              <a:rPr lang="en" sz="1200">
                <a:solidFill>
                  <a:schemeClr val="dk1"/>
                </a:solidFill>
              </a:rPr>
              <a:t>= 0.92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             , Ans 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​= 2.4  , x</a:t>
            </a:r>
            <a:r>
              <a:rPr baseline="-25000" lang="en" sz="1200">
                <a:solidFill>
                  <a:schemeClr val="dk1"/>
                </a:solidFill>
              </a:rPr>
              <a:t>2​</a:t>
            </a:r>
            <a:r>
              <a:rPr lang="en" sz="1200">
                <a:solidFill>
                  <a:schemeClr val="dk1"/>
                </a:solidFill>
              </a:rPr>
              <a:t>= 1.44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+ 4x + 4  , Ans 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​= −2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Apply Newton Method for : 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 ,  and Find its Solutions.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</a:t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Conjugate Direction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 Solution for the Quadratic Equation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Fletcher Reeves Conjugate Gradient Method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0" y="57775"/>
            <a:ext cx="9144000" cy="50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Conjugate Direction Method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Approach - Instead of moving only along the </a:t>
            </a:r>
            <a:r>
              <a:rPr b="1" lang="en" sz="1200">
                <a:solidFill>
                  <a:schemeClr val="dk1"/>
                </a:solidFill>
              </a:rPr>
              <a:t>negative gradient (steepest descent)</a:t>
            </a:r>
            <a:r>
              <a:rPr lang="en" sz="1200">
                <a:solidFill>
                  <a:schemeClr val="dk1"/>
                </a:solidFill>
              </a:rPr>
              <a:t>, we move along </a:t>
            </a:r>
            <a:r>
              <a:rPr b="1" lang="en" sz="1200">
                <a:solidFill>
                  <a:schemeClr val="dk1"/>
                </a:solidFill>
              </a:rPr>
              <a:t>special directions called conjugate directions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Mathematical</a:t>
            </a:r>
            <a:r>
              <a:rPr lang="en" sz="1200">
                <a:solidFill>
                  <a:schemeClr val="dk1"/>
                </a:solidFill>
              </a:rPr>
              <a:t> Definition : Directions d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and d</a:t>
            </a:r>
            <a:r>
              <a:rPr baseline="-25000" lang="en" sz="1200">
                <a:solidFill>
                  <a:schemeClr val="dk1"/>
                </a:solidFill>
              </a:rPr>
              <a:t>j</a:t>
            </a:r>
            <a:r>
              <a:rPr lang="en" sz="1200">
                <a:solidFill>
                  <a:schemeClr val="dk1"/>
                </a:solidFill>
              </a:rPr>
              <a:t> are </a:t>
            </a:r>
            <a:r>
              <a:rPr b="1" lang="en" sz="1200">
                <a:solidFill>
                  <a:schemeClr val="dk1"/>
                </a:solidFill>
              </a:rPr>
              <a:t>conjugate w.r.t matrix A</a:t>
            </a:r>
            <a:r>
              <a:rPr lang="en" sz="1200">
                <a:solidFill>
                  <a:schemeClr val="dk1"/>
                </a:solidFill>
              </a:rPr>
              <a:t> if: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d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i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T​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A d</a:t>
            </a:r>
            <a:r>
              <a:rPr b="1"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​ = 0 </a:t>
            </a:r>
            <a:r>
              <a:rPr b="1" lang="en" sz="1200">
                <a:solidFill>
                  <a:schemeClr val="dk1"/>
                </a:solidFill>
              </a:rPr>
              <a:t>, (i </a:t>
            </a:r>
            <a:r>
              <a:rPr b="1" lang="en" sz="1200">
                <a:solidFill>
                  <a:srgbClr val="474747"/>
                </a:solidFill>
                <a:highlight>
                  <a:srgbClr val="FFFFFF"/>
                </a:highlight>
              </a:rPr>
              <a:t>≠</a:t>
            </a:r>
            <a:r>
              <a:rPr b="1" lang="en" sz="1200">
                <a:solidFill>
                  <a:schemeClr val="dk1"/>
                </a:solidFill>
              </a:rPr>
              <a:t> j)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Needed?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Reason : Gradient descent is Zig-zags , Slow convergence while Conjugate directions remove zig-zag ,reach minimum faster.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Example: Imagine walking in valley [Gradient descent → zig-zag walking, Conjugate direction → smart diagonal shortcuts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- Large linear systems , Quadratic loss problems , Training ML models without computing Hessian.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Kernel methods (SVM).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001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89556"/>
            <a:ext cx="3630151" cy="18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2550" y="1802837"/>
            <a:ext cx="3548774" cy="15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47450" y="48475"/>
            <a:ext cx="9052200" cy="50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Algorithm (Conjugate Direction Method):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Start with x</a:t>
            </a:r>
            <a:r>
              <a:rPr baseline="-25000" lang="en" sz="1200">
                <a:solidFill>
                  <a:schemeClr val="dk1"/>
                </a:solidFill>
              </a:rPr>
              <a:t>0  ,  </a:t>
            </a:r>
            <a:r>
              <a:rPr lang="en" sz="1200">
                <a:solidFill>
                  <a:schemeClr val="dk1"/>
                </a:solidFill>
              </a:rPr>
              <a:t>For k = 0,1,2,…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Choose direction 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such that:  </a:t>
            </a:r>
            <a:r>
              <a:rPr b="1" lang="en" sz="1200">
                <a:solidFill>
                  <a:schemeClr val="dk1"/>
                </a:solidFill>
              </a:rPr>
              <a:t>d</a:t>
            </a:r>
            <a:r>
              <a:rPr b="1" baseline="-25000" lang="en" sz="1200">
                <a:solidFill>
                  <a:schemeClr val="dk1"/>
                </a:solidFill>
              </a:rPr>
              <a:t>i</a:t>
            </a:r>
            <a:r>
              <a:rPr b="1" baseline="30000" lang="en" sz="1200">
                <a:solidFill>
                  <a:schemeClr val="dk1"/>
                </a:solidFill>
              </a:rPr>
              <a:t>T​ </a:t>
            </a:r>
            <a:r>
              <a:rPr b="1" lang="en" sz="1200">
                <a:solidFill>
                  <a:schemeClr val="dk1"/>
                </a:solidFill>
              </a:rPr>
              <a:t>A d</a:t>
            </a:r>
            <a:r>
              <a:rPr b="1" baseline="-25000" lang="en" sz="1200">
                <a:solidFill>
                  <a:schemeClr val="dk1"/>
                </a:solidFill>
              </a:rPr>
              <a:t>j</a:t>
            </a:r>
            <a:r>
              <a:rPr b="1" lang="en" sz="1200">
                <a:solidFill>
                  <a:schemeClr val="dk1"/>
                </a:solidFill>
              </a:rPr>
              <a:t>​ = 0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Compute step size (exact line search)       :   </a:t>
            </a:r>
            <a:r>
              <a:rPr b="1" lang="en" sz="1200">
                <a:solidFill>
                  <a:schemeClr val="dk1"/>
                </a:solidFill>
              </a:rPr>
              <a:t>α</a:t>
            </a:r>
            <a:r>
              <a:rPr b="1" baseline="-25000" lang="en" sz="1200">
                <a:solidFill>
                  <a:schemeClr val="dk1"/>
                </a:solidFill>
              </a:rPr>
              <a:t>k​ </a:t>
            </a:r>
            <a:r>
              <a:rPr b="1" lang="en" sz="1200">
                <a:solidFill>
                  <a:schemeClr val="dk1"/>
                </a:solidFill>
              </a:rPr>
              <a:t> = [ d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baseline="30000" lang="en" sz="1200">
                <a:solidFill>
                  <a:schemeClr val="dk1"/>
                </a:solidFill>
              </a:rPr>
              <a:t>T</a:t>
            </a:r>
            <a:r>
              <a:rPr b="1" lang="en" sz="1200">
                <a:solidFill>
                  <a:schemeClr val="dk1"/>
                </a:solidFill>
              </a:rPr>
              <a:t>​ ( b − A x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lang="en" sz="1200">
                <a:solidFill>
                  <a:schemeClr val="dk1"/>
                </a:solidFill>
              </a:rPr>
              <a:t> ​) ]  /  [  d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baseline="30000" lang="en" sz="1200">
                <a:solidFill>
                  <a:schemeClr val="dk1"/>
                </a:solidFill>
              </a:rPr>
              <a:t>T</a:t>
            </a:r>
            <a:r>
              <a:rPr b="1" lang="en" sz="1200">
                <a:solidFill>
                  <a:schemeClr val="dk1"/>
                </a:solidFill>
              </a:rPr>
              <a:t>​ A  d</a:t>
            </a:r>
            <a:r>
              <a:rPr b="1" baseline="-25000" lang="en" sz="1200">
                <a:solidFill>
                  <a:schemeClr val="dk1"/>
                </a:solidFill>
              </a:rPr>
              <a:t>k</a:t>
            </a:r>
            <a:r>
              <a:rPr b="1" lang="en" sz="1200">
                <a:solidFill>
                  <a:schemeClr val="dk1"/>
                </a:solidFill>
              </a:rPr>
              <a:t> ]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Update :  x</a:t>
            </a:r>
            <a:r>
              <a:rPr baseline="-25000" lang="en" sz="1200">
                <a:solidFill>
                  <a:schemeClr val="dk1"/>
                </a:solidFill>
              </a:rPr>
              <a:t>k+1 ​</a:t>
            </a:r>
            <a:r>
              <a:rPr lang="en" sz="1200">
                <a:solidFill>
                  <a:schemeClr val="dk1"/>
                </a:solidFill>
              </a:rPr>
              <a:t>= x</a:t>
            </a:r>
            <a:r>
              <a:rPr baseline="-25000" lang="en" sz="1200">
                <a:solidFill>
                  <a:schemeClr val="dk1"/>
                </a:solidFill>
              </a:rPr>
              <a:t>k​ </a:t>
            </a:r>
            <a:r>
              <a:rPr lang="en" sz="1200">
                <a:solidFill>
                  <a:schemeClr val="dk1"/>
                </a:solidFill>
              </a:rPr>
              <a:t>+ α</a:t>
            </a:r>
            <a:r>
              <a:rPr baseline="-25000" lang="en" sz="1200">
                <a:solidFill>
                  <a:schemeClr val="dk1"/>
                </a:solidFill>
              </a:rPr>
              <a:t>k </a:t>
            </a:r>
            <a:r>
              <a:rPr lang="en" sz="1200">
                <a:solidFill>
                  <a:schemeClr val="dk1"/>
                </a:solidFill>
              </a:rPr>
              <a:t>​d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Result</a:t>
            </a:r>
            <a:r>
              <a:rPr lang="en" sz="1200">
                <a:solidFill>
                  <a:schemeClr val="dk1"/>
                </a:solidFill>
              </a:rPr>
              <a:t> -  The method converges in </a:t>
            </a:r>
            <a:r>
              <a:rPr b="1" lang="en" sz="1200">
                <a:solidFill>
                  <a:schemeClr val="dk1"/>
                </a:solidFill>
              </a:rPr>
              <a:t>at most n steps</a:t>
            </a:r>
            <a:r>
              <a:rPr lang="en" sz="1200">
                <a:solidFill>
                  <a:schemeClr val="dk1"/>
                </a:solidFill>
              </a:rPr>
              <a:t> ( for n - dimensional problem 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Each direction removes error in one dimension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Exact Solution for Quadratic Function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Function :</a:t>
            </a:r>
            <a:r>
              <a:rPr b="1" lang="en" sz="1200">
                <a:solidFill>
                  <a:schemeClr val="dk1"/>
                </a:solidFill>
              </a:rPr>
              <a:t>   f(x) = ½ ​ x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A x − b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x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Gradient : </a:t>
            </a:r>
            <a:r>
              <a:rPr b="1" lang="en" sz="1200">
                <a:solidFill>
                  <a:schemeClr val="dk1"/>
                </a:solidFill>
              </a:rPr>
              <a:t>∇f(x) = A x − b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Optimality Condition : Set gradient to zero -  </a:t>
            </a:r>
            <a:r>
              <a:rPr b="1" lang="en" sz="1200">
                <a:solidFill>
                  <a:schemeClr val="dk1"/>
                </a:solidFill>
              </a:rPr>
              <a:t>A x</a:t>
            </a:r>
            <a:r>
              <a:rPr b="1" baseline="30000" lang="en" sz="1200">
                <a:solidFill>
                  <a:schemeClr val="dk1"/>
                </a:solidFill>
              </a:rPr>
              <a:t>∗ </a:t>
            </a:r>
            <a:r>
              <a:rPr b="1" lang="en" sz="1200">
                <a:solidFill>
                  <a:schemeClr val="dk1"/>
                </a:solidFill>
              </a:rPr>
              <a:t>− b = 0 , A x</a:t>
            </a:r>
            <a:r>
              <a:rPr b="1" baseline="30000" lang="en" sz="1200">
                <a:solidFill>
                  <a:schemeClr val="dk1"/>
                </a:solidFill>
              </a:rPr>
              <a:t>∗ </a:t>
            </a:r>
            <a:r>
              <a:rPr b="1" lang="en" sz="1200">
                <a:solidFill>
                  <a:schemeClr val="dk1"/>
                </a:solidFill>
              </a:rPr>
              <a:t>= b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Exact Solution :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x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∗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 = A</a:t>
            </a:r>
            <a:r>
              <a:rPr b="1"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−1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b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Conditions: A must be invertible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Interpretation : </a:t>
            </a:r>
            <a:r>
              <a:rPr lang="en" sz="1100">
                <a:solidFill>
                  <a:schemeClr val="dk1"/>
                </a:solidFill>
              </a:rPr>
              <a:t>We solve a </a:t>
            </a:r>
            <a:r>
              <a:rPr b="1" lang="en" sz="1100">
                <a:solidFill>
                  <a:schemeClr val="dk1"/>
                </a:solidFill>
              </a:rPr>
              <a:t>system of linear equations</a:t>
            </a:r>
            <a:r>
              <a:rPr lang="en" sz="1100">
                <a:solidFill>
                  <a:schemeClr val="dk1"/>
                </a:solidFill>
              </a:rPr>
              <a:t> instead of iterative optimization.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Electrical Circuit Analysis [ Ohm’s law system: A x = b , where x → currents ,A → resistance matrix ]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Linear Regression [ w = (X 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X)</a:t>
            </a:r>
            <a:r>
              <a:rPr baseline="30000" lang="en" sz="1200">
                <a:solidFill>
                  <a:schemeClr val="dk1"/>
                </a:solidFill>
              </a:rPr>
              <a:t>−1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y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exactly the </a:t>
            </a:r>
            <a:r>
              <a:rPr b="1" lang="en" sz="1100">
                <a:solidFill>
                  <a:schemeClr val="dk1"/>
                </a:solidFill>
              </a:rPr>
              <a:t>quadratic optimization solution.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66025" y="67050"/>
            <a:ext cx="90150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Fletcher–Reeves Conjugate Gradient Method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 </a:t>
            </a:r>
            <a:r>
              <a:rPr b="1" lang="en" sz="1200">
                <a:solidFill>
                  <a:schemeClr val="dk1"/>
                </a:solidFill>
              </a:rPr>
              <a:t>practical algorithm</a:t>
            </a:r>
            <a:r>
              <a:rPr lang="en" sz="1200">
                <a:solidFill>
                  <a:schemeClr val="dk1"/>
                </a:solidFill>
              </a:rPr>
              <a:t> to generate conjugate directions </a:t>
            </a:r>
            <a:r>
              <a:rPr b="1" lang="en" sz="1200">
                <a:solidFill>
                  <a:schemeClr val="dk1"/>
                </a:solidFill>
              </a:rPr>
              <a:t>without computing A</a:t>
            </a:r>
            <a:r>
              <a:rPr lang="en" sz="1200">
                <a:solidFill>
                  <a:schemeClr val="dk1"/>
                </a:solidFill>
              </a:rPr>
              <a:t> explicitly.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Algorithm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Initialization -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given , 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∇f (x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)  , d</a:t>
            </a:r>
            <a:r>
              <a:rPr baseline="-25000" lang="en" sz="1200">
                <a:solidFill>
                  <a:schemeClr val="dk1"/>
                </a:solidFill>
              </a:rPr>
              <a:t>0​ </a:t>
            </a:r>
            <a:r>
              <a:rPr lang="en" sz="1200">
                <a:solidFill>
                  <a:schemeClr val="dk1"/>
                </a:solidFill>
              </a:rPr>
              <a:t>= − g</a:t>
            </a:r>
            <a:r>
              <a:rPr baseline="-25000" lang="en" sz="1200">
                <a:solidFill>
                  <a:schemeClr val="dk1"/>
                </a:solidFill>
              </a:rPr>
              <a:t>0​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Iteration 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(a) Step size :   α</a:t>
            </a:r>
            <a:r>
              <a:rPr baseline="-25000" lang="en" sz="1200">
                <a:solidFill>
                  <a:schemeClr val="dk1"/>
                </a:solidFill>
              </a:rPr>
              <a:t>k </a:t>
            </a:r>
            <a:r>
              <a:rPr lang="en" sz="1200">
                <a:solidFill>
                  <a:schemeClr val="dk1"/>
                </a:solidFill>
              </a:rPr>
              <a:t> = ( g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​g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) / ( 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d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(b) Update solution :  x</a:t>
            </a:r>
            <a:r>
              <a:rPr baseline="-25000" lang="en" sz="1200">
                <a:solidFill>
                  <a:schemeClr val="dk1"/>
                </a:solidFill>
              </a:rPr>
              <a:t>k+1 </a:t>
            </a:r>
            <a:r>
              <a:rPr lang="en" sz="1200">
                <a:solidFill>
                  <a:schemeClr val="dk1"/>
                </a:solidFill>
              </a:rPr>
              <a:t>​ = x</a:t>
            </a:r>
            <a:r>
              <a:rPr baseline="-25000" lang="en" sz="1200">
                <a:solidFill>
                  <a:schemeClr val="dk1"/>
                </a:solidFill>
              </a:rPr>
              <a:t>k </a:t>
            </a:r>
            <a:r>
              <a:rPr lang="en" sz="1200">
                <a:solidFill>
                  <a:schemeClr val="dk1"/>
                </a:solidFill>
              </a:rPr>
              <a:t>​ +  α</a:t>
            </a:r>
            <a:r>
              <a:rPr baseline="-25000" lang="en" sz="1200">
                <a:solidFill>
                  <a:schemeClr val="dk1"/>
                </a:solidFill>
              </a:rPr>
              <a:t>k</a:t>
            </a:r>
            <a:r>
              <a:rPr lang="en" sz="1200">
                <a:solidFill>
                  <a:schemeClr val="dk1"/>
                </a:solidFill>
              </a:rPr>
              <a:t>​ d</a:t>
            </a:r>
            <a:r>
              <a:rPr baseline="-25000" lang="en" sz="1200">
                <a:solidFill>
                  <a:schemeClr val="dk1"/>
                </a:solidFill>
              </a:rPr>
              <a:t>k​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(c) New gradient  :  g</a:t>
            </a:r>
            <a:r>
              <a:rPr baseline="-25000" lang="en" sz="1200">
                <a:solidFill>
                  <a:schemeClr val="dk1"/>
                </a:solidFill>
              </a:rPr>
              <a:t>k+1</a:t>
            </a:r>
            <a:r>
              <a:rPr lang="en" sz="1200">
                <a:solidFill>
                  <a:schemeClr val="dk1"/>
                </a:solidFill>
              </a:rPr>
              <a:t>​ = ∇f (x</a:t>
            </a:r>
            <a:r>
              <a:rPr baseline="-25000" lang="en" sz="1200">
                <a:solidFill>
                  <a:schemeClr val="dk1"/>
                </a:solidFill>
              </a:rPr>
              <a:t>k+1</a:t>
            </a:r>
            <a:r>
              <a:rPr lang="en" sz="1200">
                <a:solidFill>
                  <a:schemeClr val="dk1"/>
                </a:solidFill>
              </a:rPr>
              <a:t>​)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(d) Compute β  : 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β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k​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= ( g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T ​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g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k+1​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) /( g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T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g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k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)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(e) New direction :  d</a:t>
            </a:r>
            <a:r>
              <a:rPr baseline="-25000" lang="en" sz="1200">
                <a:solidFill>
                  <a:schemeClr val="dk1"/>
                </a:solidFill>
              </a:rPr>
              <a:t>k+1​ </a:t>
            </a:r>
            <a:r>
              <a:rPr lang="en" sz="1200">
                <a:solidFill>
                  <a:schemeClr val="dk1"/>
                </a:solidFill>
              </a:rPr>
              <a:t>= −g</a:t>
            </a:r>
            <a:r>
              <a:rPr baseline="-25000" lang="en" sz="1200">
                <a:solidFill>
                  <a:schemeClr val="dk1"/>
                </a:solidFill>
              </a:rPr>
              <a:t>k+1</a:t>
            </a:r>
            <a:r>
              <a:rPr lang="en" sz="1200">
                <a:solidFill>
                  <a:schemeClr val="dk1"/>
                </a:solidFill>
              </a:rPr>
              <a:t> ​ + β</a:t>
            </a:r>
            <a:r>
              <a:rPr baseline="-25000" lang="en" sz="1200">
                <a:solidFill>
                  <a:schemeClr val="dk1"/>
                </a:solidFill>
              </a:rPr>
              <a:t>k </a:t>
            </a:r>
            <a:r>
              <a:rPr lang="en" sz="1200">
                <a:solidFill>
                  <a:schemeClr val="dk1"/>
                </a:solidFill>
              </a:rPr>
              <a:t>​ d</a:t>
            </a:r>
            <a:r>
              <a:rPr baseline="-25000" lang="en" sz="1200">
                <a:solidFill>
                  <a:schemeClr val="dk1"/>
                </a:solidFill>
              </a:rPr>
              <a:t>k​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Properties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 Directions are </a:t>
            </a:r>
            <a:r>
              <a:rPr b="1" lang="en" sz="1200">
                <a:solidFill>
                  <a:schemeClr val="dk1"/>
                </a:solidFill>
              </a:rPr>
              <a:t>automatically conjugate </a:t>
            </a:r>
            <a:r>
              <a:rPr lang="en" sz="1200">
                <a:solidFill>
                  <a:schemeClr val="dk1"/>
                </a:solidFill>
              </a:rPr>
              <a:t>2) No need to compute Hessian 3) Converges in at most n steps (for quadratic case)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4) Combines: Gradient (current slope)  +  New Direction  [ Smarter than gradient descent ]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Navigation System - Gradient descent → follow steepest slope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- Fletcher-Reeves → remembers past movement and avoids repeating mistakes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chemeClr val="dk1"/>
                </a:solidFill>
              </a:rPr>
              <a:t>Used in Large-scale optimize,Train ML models with huge data,Solving linear systems (Gaussian Process,Kernel methods)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8175" y="39200"/>
            <a:ext cx="90615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Numericals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1) </a:t>
            </a: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Conjugate Direction Method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(Independent smart directions)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Minimize: f(x) =  ½  x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x − b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Where                                      , Start with x</a:t>
            </a:r>
            <a:r>
              <a:rPr baseline="-25000" lang="en" sz="1200">
                <a:solidFill>
                  <a:schemeClr val="dk1"/>
                </a:solidFill>
              </a:rPr>
              <a:t>0​ </a:t>
            </a:r>
            <a:r>
              <a:rPr lang="en" sz="1200">
                <a:solidFill>
                  <a:schemeClr val="dk1"/>
                </a:solidFill>
              </a:rPr>
              <a:t>= (0 , 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Use </a:t>
            </a:r>
            <a:r>
              <a:rPr b="1" lang="en" sz="1100">
                <a:solidFill>
                  <a:schemeClr val="dk1"/>
                </a:solidFill>
              </a:rPr>
              <a:t>two conjugate directions :</a:t>
            </a:r>
            <a:r>
              <a:rPr lang="en" sz="1100">
                <a:solidFill>
                  <a:schemeClr val="dk1"/>
                </a:solidFill>
              </a:rPr>
              <a:t>  d</a:t>
            </a:r>
            <a:r>
              <a:rPr baseline="-25000" lang="en" sz="1100">
                <a:solidFill>
                  <a:schemeClr val="dk1"/>
                </a:solidFill>
              </a:rPr>
              <a:t>0 </a:t>
            </a:r>
            <a:r>
              <a:rPr lang="en" sz="1100">
                <a:solidFill>
                  <a:schemeClr val="dk1"/>
                </a:solidFill>
              </a:rPr>
              <a:t>​= (1,0) , d</a:t>
            </a:r>
            <a:r>
              <a:rPr baseline="-25000" lang="en" sz="1100">
                <a:solidFill>
                  <a:schemeClr val="dk1"/>
                </a:solidFill>
              </a:rPr>
              <a:t>1</a:t>
            </a:r>
            <a:r>
              <a:rPr lang="en" sz="1100">
                <a:solidFill>
                  <a:schemeClr val="dk1"/>
                </a:solidFill>
              </a:rPr>
              <a:t>​ = (0,1)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First Direction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</a:t>
            </a: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b − A x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​= (8 , 4)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</a:t>
            </a:r>
            <a:r>
              <a:rPr lang="en" sz="1200">
                <a:solidFill>
                  <a:schemeClr val="dk1"/>
                </a:solidFill>
              </a:rPr>
              <a:t>α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=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T​ </a:t>
            </a: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​​ / </a:t>
            </a:r>
            <a:r>
              <a:rPr lang="en" sz="1200">
                <a:solidFill>
                  <a:schemeClr val="dk1"/>
                </a:solidFill>
              </a:rPr>
              <a:t>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a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8/4 ​ 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Update : x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= x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+ 2(1 , 0) = (2 , 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Second Direction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r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​= b − A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A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(8 , 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r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​= (8, 4) − (8 ,0) = (0 ,4)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α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= d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baseline="30000" lang="en" sz="1200">
                <a:solidFill>
                  <a:schemeClr val="dk1"/>
                </a:solidFill>
              </a:rPr>
              <a:t>T​ </a:t>
            </a: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​​ / d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d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 , α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 = 4/2 ​=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Update : x</a:t>
            </a:r>
            <a:r>
              <a:rPr baseline="-25000" lang="en" sz="1200">
                <a:solidFill>
                  <a:schemeClr val="dk1"/>
                </a:solidFill>
              </a:rPr>
              <a:t>2​</a:t>
            </a:r>
            <a:r>
              <a:rPr lang="en" sz="1200">
                <a:solidFill>
                  <a:schemeClr val="dk1"/>
                </a:solidFill>
              </a:rPr>
              <a:t> = (2, 0) + 2(0, 1) = (2, 2)                   </a:t>
            </a: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 </a:t>
            </a:r>
            <a:r>
              <a:rPr lang="en" sz="1200">
                <a:solidFill>
                  <a:schemeClr val="dk1"/>
                </a:solidFill>
              </a:rPr>
              <a:t>= (2 ,2) .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What we Compute ? Ans: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α and updates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</p:txBody>
      </p:sp>
      <p:pic>
        <p:nvPicPr>
          <p:cNvPr id="236" name="Google Shape;2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281" y="789559"/>
            <a:ext cx="1346250" cy="3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47450" y="39200"/>
            <a:ext cx="90522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2) </a:t>
            </a: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Exact Solution for Quadratic Equation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(Solve system directly)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Solve </a:t>
            </a:r>
            <a:r>
              <a:rPr lang="en" sz="1200">
                <a:solidFill>
                  <a:schemeClr val="dk1"/>
                </a:solidFill>
              </a:rPr>
              <a:t> ½  x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x − b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 ,  where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Optimal condition    Ax = b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Solve system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Equations               2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6 ⇒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3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4 x</a:t>
            </a:r>
            <a:r>
              <a:rPr baseline="-25000" lang="en" sz="1200">
                <a:solidFill>
                  <a:schemeClr val="dk1"/>
                </a:solidFill>
              </a:rPr>
              <a:t>2​</a:t>
            </a:r>
            <a:r>
              <a:rPr lang="en" sz="1200">
                <a:solidFill>
                  <a:schemeClr val="dk1"/>
                </a:solidFill>
              </a:rPr>
              <a:t> = 8 ⇒ x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​=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(3 , 2) . What we Compute ? Ans: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Solve Ax = b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3) Fletcher–Reeves Conjugate Gradient Method </a:t>
            </a: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(Efficient practical method)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 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Start : x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= (1 , 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g</a:t>
            </a:r>
            <a:r>
              <a:rPr baseline="-25000" lang="en" sz="1200">
                <a:solidFill>
                  <a:schemeClr val="dk1"/>
                </a:solidFill>
              </a:rPr>
              <a:t>0 ​</a:t>
            </a:r>
            <a:r>
              <a:rPr lang="en" sz="1200">
                <a:solidFill>
                  <a:schemeClr val="dk1"/>
                </a:solidFill>
              </a:rPr>
              <a:t>= (2 , 4)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(−2 ,−4)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2" name="Google Shape;2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875" y="333860"/>
            <a:ext cx="1550475" cy="4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500" y="1234725"/>
            <a:ext cx="1052350" cy="3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56725" y="39200"/>
            <a:ext cx="90336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Step size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</a:t>
            </a:r>
            <a:r>
              <a:rPr lang="en" sz="1200">
                <a:solidFill>
                  <a:schemeClr val="dk1"/>
                </a:solidFill>
              </a:rPr>
              <a:t>α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= (g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T​ </a:t>
            </a:r>
            <a:r>
              <a:rPr lang="en" sz="1200">
                <a:solidFill>
                  <a:schemeClr val="dk1"/>
                </a:solidFill>
              </a:rPr>
              <a:t>g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) / (  </a:t>
            </a:r>
            <a:r>
              <a:rPr lang="en" sz="1200">
                <a:solidFill>
                  <a:schemeClr val="dk1"/>
                </a:solidFill>
              </a:rPr>
              <a:t>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​ A d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Here:    A = 2 I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          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T​</a:t>
            </a:r>
            <a:r>
              <a:rPr lang="en" sz="1200">
                <a:solidFill>
                  <a:schemeClr val="dk1"/>
                </a:solidFill>
              </a:rPr>
              <a:t> 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 = 4 + 16 = 20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​ A d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 = 2 (4+16) = 40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α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 = 20/40​ = 0.5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Update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        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​= (1 ,2) + 0.5 (−2 ,−4)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x</a:t>
            </a:r>
            <a:r>
              <a:rPr baseline="-25000" lang="en" sz="1200">
                <a:solidFill>
                  <a:schemeClr val="dk1"/>
                </a:solidFill>
              </a:rPr>
              <a:t>1​  </a:t>
            </a:r>
            <a:r>
              <a:rPr lang="en" sz="1200">
                <a:solidFill>
                  <a:schemeClr val="dk1"/>
                </a:solidFill>
              </a:rPr>
              <a:t>= (0, 0)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New Gradient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g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= (0, 0)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5: Compute β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β</a:t>
            </a:r>
            <a:r>
              <a:rPr baseline="-25000" lang="en" sz="1200">
                <a:solidFill>
                  <a:schemeClr val="dk1"/>
                </a:solidFill>
              </a:rPr>
              <a:t>0​ </a:t>
            </a:r>
            <a:r>
              <a:rPr lang="en" sz="1200">
                <a:solidFill>
                  <a:schemeClr val="dk1"/>
                </a:solidFill>
              </a:rPr>
              <a:t> = g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baseline="30000" lang="en" sz="1200">
                <a:solidFill>
                  <a:schemeClr val="dk1"/>
                </a:solidFill>
              </a:rPr>
              <a:t>T ​</a:t>
            </a:r>
            <a:r>
              <a:rPr lang="en" sz="1200">
                <a:solidFill>
                  <a:schemeClr val="dk1"/>
                </a:solidFill>
              </a:rPr>
              <a:t>g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/  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 ​</a:t>
            </a:r>
            <a:r>
              <a:rPr lang="en" sz="1200">
                <a:solidFill>
                  <a:schemeClr val="dk1"/>
                </a:solidFill>
              </a:rPr>
              <a:t>g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6: New direction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d</a:t>
            </a:r>
            <a:r>
              <a:rPr baseline="-25000" lang="en" sz="1200">
                <a:solidFill>
                  <a:schemeClr val="dk1"/>
                </a:solidFill>
              </a:rPr>
              <a:t>1​ </a:t>
            </a:r>
            <a:r>
              <a:rPr lang="en" sz="1200">
                <a:solidFill>
                  <a:schemeClr val="dk1"/>
                </a:solidFill>
              </a:rPr>
              <a:t>= −g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+ 0 ⋅ d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​= 0               </a:t>
            </a: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 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(0, 0). What we Compute ? Ans: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α, β, direction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idx="1" type="body"/>
          </p:nvPr>
        </p:nvSpPr>
        <p:spPr>
          <a:xfrm>
            <a:off x="56725" y="39200"/>
            <a:ext cx="90150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Practise Questions 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Conjugate Direction Method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Minimize: f(x) =  ½  x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A x − b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   ,  where                                           , Given : x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​= (0,0) ,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 = (1 ,0)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Find : α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 , x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Using same problem above, take  d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​= (0,1)  , Find : α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 , x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endParaRPr baseline="-25000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arenR"/>
            </a:pPr>
            <a:r>
              <a:rPr lang="en" sz="1200">
                <a:solidFill>
                  <a:schemeClr val="dk1"/>
                </a:solidFill>
              </a:rPr>
              <a:t>Check whether the directions -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​= (1,0), d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(0,1)</a:t>
            </a:r>
            <a:r>
              <a:rPr baseline="-25000" lang="en" sz="1200">
                <a:solidFill>
                  <a:schemeClr val="dk1"/>
                </a:solidFill>
              </a:rPr>
              <a:t>  </a:t>
            </a:r>
            <a:r>
              <a:rPr lang="en" sz="1200">
                <a:solidFill>
                  <a:schemeClr val="dk1"/>
                </a:solidFill>
              </a:rPr>
              <a:t>, are conjugate w.r.t                      Verify : d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 A d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 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4) Exact Solution of Quadratic Function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Solve :                                       . Find x</a:t>
            </a:r>
            <a:r>
              <a:rPr baseline="30000" lang="en" sz="1200">
                <a:solidFill>
                  <a:schemeClr val="dk1"/>
                </a:solidFill>
              </a:rPr>
              <a:t>*</a:t>
            </a:r>
            <a:r>
              <a:rPr lang="en" sz="1200">
                <a:solidFill>
                  <a:schemeClr val="dk1"/>
                </a:solidFill>
              </a:rPr>
              <a:t> ?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5) Find the minimum of:  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+2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− 4x − 8y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Find gradient , Set ∇f = 0                      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54" name="Google Shape;2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275" y="608950"/>
            <a:ext cx="1741975" cy="5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475" y="1439470"/>
            <a:ext cx="780525" cy="5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75" y="2094500"/>
            <a:ext cx="1522625" cy="7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Week-7</a:t>
            </a:r>
            <a:endParaRPr/>
          </a:p>
        </p:txBody>
      </p:sp>
      <p:sp>
        <p:nvSpPr>
          <p:cNvPr id="262" name="Google Shape;26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Constrained Optimisation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Concept of Feasible and Descent Direction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Geometrical Optimality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Fritz John Problem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7"/>
          <p:cNvSpPr txBox="1"/>
          <p:nvPr>
            <p:ph idx="1" type="body"/>
          </p:nvPr>
        </p:nvSpPr>
        <p:spPr>
          <a:xfrm>
            <a:off x="66025" y="76325"/>
            <a:ext cx="9015000" cy="5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Constrained Optimization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General Problem :-  </a:t>
            </a:r>
            <a:r>
              <a:rPr b="1" lang="en" sz="1200">
                <a:solidFill>
                  <a:schemeClr val="dk1"/>
                </a:solidFill>
              </a:rPr>
              <a:t>min f(x)</a:t>
            </a:r>
            <a:r>
              <a:rPr lang="en" sz="1200">
                <a:solidFill>
                  <a:schemeClr val="dk1"/>
                </a:solidFill>
              </a:rPr>
              <a:t> , subject to: </a:t>
            </a:r>
            <a:r>
              <a:rPr b="1" lang="en" sz="1200">
                <a:solidFill>
                  <a:schemeClr val="dk1"/>
                </a:solidFill>
              </a:rPr>
              <a:t> g</a:t>
            </a:r>
            <a:r>
              <a:rPr b="1" baseline="-25000" lang="en" sz="1200">
                <a:solidFill>
                  <a:schemeClr val="dk1"/>
                </a:solidFill>
              </a:rPr>
              <a:t>i</a:t>
            </a:r>
            <a:r>
              <a:rPr b="1" lang="en" sz="1200">
                <a:solidFill>
                  <a:schemeClr val="dk1"/>
                </a:solidFill>
              </a:rPr>
              <a:t> ​(x) ≤ 0 (i = 1,…,m) ,  h</a:t>
            </a:r>
            <a:r>
              <a:rPr b="1" baseline="-25000" lang="en" sz="1200">
                <a:solidFill>
                  <a:schemeClr val="dk1"/>
                </a:solidFill>
              </a:rPr>
              <a:t>j​ </a:t>
            </a:r>
            <a:r>
              <a:rPr b="1" lang="en" sz="1200">
                <a:solidFill>
                  <a:schemeClr val="dk1"/>
                </a:solidFill>
              </a:rPr>
              <a:t>(x) = 0 (j = 1,…,p)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Types : </a:t>
            </a:r>
            <a:r>
              <a:rPr b="1" lang="en" sz="1200">
                <a:solidFill>
                  <a:schemeClr val="dk1"/>
                </a:solidFill>
              </a:rPr>
              <a:t>Inequality constraints</a:t>
            </a:r>
            <a:r>
              <a:rPr lang="en" sz="1200">
                <a:solidFill>
                  <a:schemeClr val="dk1"/>
                </a:solidFill>
              </a:rPr>
              <a:t> → g(x) 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</a:t>
            </a:r>
            <a:r>
              <a:rPr b="1" lang="en" sz="1200">
                <a:solidFill>
                  <a:schemeClr val="dk1"/>
                </a:solidFill>
              </a:rPr>
              <a:t>Equality constraints</a:t>
            </a:r>
            <a:r>
              <a:rPr lang="en" sz="1200">
                <a:solidFill>
                  <a:schemeClr val="dk1"/>
                </a:solidFill>
              </a:rPr>
              <a:t> → h(x)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Feasible Set :  Ω = { x ∣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​(x) ≤ 0 ,h</a:t>
            </a:r>
            <a:r>
              <a:rPr baseline="-25000" lang="en" sz="1200">
                <a:solidFill>
                  <a:schemeClr val="dk1"/>
                </a:solidFill>
              </a:rPr>
              <a:t>j</a:t>
            </a:r>
            <a:r>
              <a:rPr lang="en" sz="1200">
                <a:solidFill>
                  <a:schemeClr val="dk1"/>
                </a:solidFill>
              </a:rPr>
              <a:t> ​(x) = 0 }   [ </a:t>
            </a:r>
            <a:r>
              <a:rPr b="1" lang="en" sz="1200">
                <a:solidFill>
                  <a:schemeClr val="dk1"/>
                </a:solidFill>
              </a:rPr>
              <a:t>All points satisfying constraints</a:t>
            </a:r>
            <a:r>
              <a:rPr lang="en" sz="1200">
                <a:solidFill>
                  <a:schemeClr val="dk1"/>
                </a:solidFill>
              </a:rPr>
              <a:t>.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Idea</a:t>
            </a:r>
            <a:r>
              <a:rPr lang="en" sz="1200">
                <a:solidFill>
                  <a:schemeClr val="dk1"/>
                </a:solidFill>
              </a:rPr>
              <a:t> - We want to </a:t>
            </a:r>
            <a:r>
              <a:rPr b="1" lang="en" sz="1200">
                <a:solidFill>
                  <a:schemeClr val="dk1"/>
                </a:solidFill>
              </a:rPr>
              <a:t>optimize</a:t>
            </a:r>
            <a:r>
              <a:rPr lang="en" sz="1200">
                <a:solidFill>
                  <a:schemeClr val="dk1"/>
                </a:solidFill>
              </a:rPr>
              <a:t>, but only within allowed region.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Budget-Constrained Shopping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Minimize cost : </a:t>
            </a:r>
            <a:r>
              <a:rPr b="1" lang="en" sz="1200">
                <a:solidFill>
                  <a:schemeClr val="dk1"/>
                </a:solidFill>
              </a:rPr>
              <a:t>min Cost (x)</a:t>
            </a:r>
            <a:r>
              <a:rPr lang="en" sz="1200">
                <a:solidFill>
                  <a:schemeClr val="dk1"/>
                </a:solidFill>
              </a:rPr>
              <a:t>  , Subject to : Budget ≤ 5000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- Support Vector Machines (SVM) , Regularization constraints , Resource-constrained ML models.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Feasible Direction &amp; Descent Direction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Feasible Direction</a:t>
            </a:r>
            <a:r>
              <a:rPr lang="en" sz="1200">
                <a:solidFill>
                  <a:schemeClr val="dk1"/>
                </a:solidFill>
              </a:rPr>
              <a:t> : A direction d is feasible at point x if moving slightly in that direction keeps us inside constraints.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inequality constraint : </a:t>
            </a:r>
            <a:r>
              <a:rPr b="1" lang="en" sz="1200">
                <a:solidFill>
                  <a:schemeClr val="dk1"/>
                </a:solidFill>
              </a:rPr>
              <a:t>∇g</a:t>
            </a:r>
            <a:r>
              <a:rPr b="1" baseline="-25000" lang="en" sz="1200">
                <a:solidFill>
                  <a:schemeClr val="dk1"/>
                </a:solidFill>
              </a:rPr>
              <a:t>i</a:t>
            </a:r>
            <a:r>
              <a:rPr b="1" lang="en" sz="1200">
                <a:solidFill>
                  <a:schemeClr val="dk1"/>
                </a:solidFill>
              </a:rPr>
              <a:t> ​(x)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d ≤ 0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Descent Direction</a:t>
            </a:r>
            <a:r>
              <a:rPr lang="en" sz="1200">
                <a:solidFill>
                  <a:schemeClr val="dk1"/>
                </a:solidFill>
              </a:rPr>
              <a:t> :  A direction d is descent direction if : </a:t>
            </a:r>
            <a:r>
              <a:rPr b="1" lang="en" sz="1200">
                <a:solidFill>
                  <a:schemeClr val="dk1"/>
                </a:solidFill>
              </a:rPr>
              <a:t>∇ f(x)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d &lt; 0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Mathematical Meaning : Function value decreases along that direction.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68" name="Google Shape;26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275" y="118700"/>
            <a:ext cx="3191724" cy="22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/>
          <p:nvPr>
            <p:ph idx="1" type="body"/>
          </p:nvPr>
        </p:nvSpPr>
        <p:spPr>
          <a:xfrm>
            <a:off x="47450" y="76325"/>
            <a:ext cx="9052200" cy="5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 : We want a direction that is - Feasible , Descent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- Driving inside a road: Road → feasible region 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Moving downhill → descent direction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- Projected Gradient Descent , Constrained neural networks , Adversarial robustness training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Geometrical Optimality Condition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 : At optimal point - No feasible direction can reduce the function.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Mathematical Condition : If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is optimal - </a:t>
            </a:r>
            <a:r>
              <a:rPr b="1" lang="en" sz="1200">
                <a:solidFill>
                  <a:schemeClr val="dk1"/>
                </a:solidFill>
              </a:rPr>
              <a:t> ∇ f(x</a:t>
            </a:r>
            <a:r>
              <a:rPr b="1" baseline="30000" lang="en" sz="1200">
                <a:solidFill>
                  <a:schemeClr val="dk1"/>
                </a:solidFill>
              </a:rPr>
              <a:t>∗</a:t>
            </a:r>
            <a:r>
              <a:rPr b="1" lang="en" sz="1200">
                <a:solidFill>
                  <a:schemeClr val="dk1"/>
                </a:solidFill>
              </a:rPr>
              <a:t>)</a:t>
            </a:r>
            <a:r>
              <a:rPr b="1" baseline="30000" lang="en" sz="1200">
                <a:solidFill>
                  <a:schemeClr val="dk1"/>
                </a:solidFill>
              </a:rPr>
              <a:t>T </a:t>
            </a:r>
            <a:r>
              <a:rPr b="1" lang="en" sz="1200">
                <a:solidFill>
                  <a:schemeClr val="dk1"/>
                </a:solidFill>
              </a:rPr>
              <a:t>d ≥ 0 </a:t>
            </a:r>
            <a:r>
              <a:rPr lang="en" sz="1200">
                <a:solidFill>
                  <a:schemeClr val="dk1"/>
                </a:solidFill>
              </a:rPr>
              <a:t>∀ d ∈ feasible directions.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Interpretation : </a:t>
            </a:r>
            <a:r>
              <a:rPr lang="en" sz="1100">
                <a:solidFill>
                  <a:schemeClr val="dk1"/>
                </a:solidFill>
              </a:rPr>
              <a:t>We cannot go </a:t>
            </a:r>
            <a:r>
              <a:rPr b="1" lang="en" sz="1100">
                <a:solidFill>
                  <a:schemeClr val="dk1"/>
                </a:solidFill>
              </a:rPr>
              <a:t>downhill</a:t>
            </a:r>
            <a:r>
              <a:rPr lang="en" sz="1100">
                <a:solidFill>
                  <a:schemeClr val="dk1"/>
                </a:solidFill>
              </a:rPr>
              <a:t> without leaving feasible region.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               We are at “best possible point within constraints”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74" name="Google Shape;27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50" y="76325"/>
            <a:ext cx="4357450" cy="18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8113"/>
            <a:ext cx="2504726" cy="17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0200" y="3186575"/>
            <a:ext cx="3119501" cy="19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>
            <p:ph idx="1" type="body"/>
          </p:nvPr>
        </p:nvSpPr>
        <p:spPr>
          <a:xfrm>
            <a:off x="47450" y="39200"/>
            <a:ext cx="9052200" cy="50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Idea : At optimum - Gradient is </a:t>
            </a:r>
            <a:r>
              <a:rPr b="1" lang="en" sz="1200">
                <a:solidFill>
                  <a:schemeClr val="dk1"/>
                </a:solidFill>
              </a:rPr>
              <a:t>blocked by constraint boundary.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Water flowing in a container - It settles at lowest point 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But constrained by container walls.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- SVM margin maximization , Constrained optimization layers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Reinforcement learning constraints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Fritz John Conditions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General optimality conditions for constrained optimization.More general than </a:t>
            </a:r>
            <a:r>
              <a:rPr b="1" lang="en" sz="1200">
                <a:solidFill>
                  <a:schemeClr val="dk1"/>
                </a:solidFill>
              </a:rPr>
              <a:t>KKT conditions</a:t>
            </a:r>
            <a:r>
              <a:rPr lang="en" sz="1200">
                <a:solidFill>
                  <a:schemeClr val="dk1"/>
                </a:solidFill>
              </a:rPr>
              <a:t>. [ Karush-Kuhn-Tucker (KKT) conditions are </a:t>
            </a:r>
            <a:r>
              <a:rPr lang="en" sz="1200">
                <a:solidFill>
                  <a:srgbClr val="001D35"/>
                </a:solidFill>
              </a:rPr>
              <a:t>first-order necessary conditions for a solution to be optimal in nonlinear programming, extending Lagrange multipliers to inequality constraints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.</a:t>
            </a:r>
            <a:r>
              <a:rPr lang="en" sz="1200">
                <a:solidFill>
                  <a:schemeClr val="dk1"/>
                </a:solidFill>
              </a:rPr>
              <a:t>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 f(x) , subject to : </a:t>
            </a:r>
            <a:r>
              <a:rPr b="1" lang="en" sz="1200">
                <a:solidFill>
                  <a:schemeClr val="dk1"/>
                </a:solidFill>
              </a:rPr>
              <a:t>g</a:t>
            </a:r>
            <a:r>
              <a:rPr b="1" baseline="-25000" lang="en" sz="1200">
                <a:solidFill>
                  <a:schemeClr val="dk1"/>
                </a:solidFill>
              </a:rPr>
              <a:t>i</a:t>
            </a:r>
            <a:r>
              <a:rPr b="1" lang="en" sz="1200">
                <a:solidFill>
                  <a:schemeClr val="dk1"/>
                </a:solidFill>
              </a:rPr>
              <a:t> ​(x) ≤ 0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Fritz John Conditions : There exist multiplier - 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​, λ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, …, λ</a:t>
            </a:r>
            <a:r>
              <a:rPr baseline="-25000" lang="en" sz="1200">
                <a:solidFill>
                  <a:schemeClr val="dk1"/>
                </a:solidFill>
              </a:rPr>
              <a:t>m</a:t>
            </a:r>
            <a:r>
              <a:rPr lang="en" sz="1200">
                <a:solidFill>
                  <a:schemeClr val="dk1"/>
                </a:solidFill>
              </a:rPr>
              <a:t>​ , such that :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1)Stationarity :                                                              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2)Non-negativity :  λ</a:t>
            </a:r>
            <a:r>
              <a:rPr baseline="-25000" lang="en" sz="1200">
                <a:solidFill>
                  <a:schemeClr val="dk1"/>
                </a:solidFill>
              </a:rPr>
              <a:t>i​ </a:t>
            </a:r>
            <a:r>
              <a:rPr lang="en" sz="1200">
                <a:solidFill>
                  <a:schemeClr val="dk1"/>
                </a:solidFill>
              </a:rPr>
              <a:t>≥ 0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3)Complementary Slackness : λ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​ g</a:t>
            </a:r>
            <a:r>
              <a:rPr baseline="-25000" lang="en" sz="1200">
                <a:solidFill>
                  <a:schemeClr val="dk1"/>
                </a:solidFill>
              </a:rPr>
              <a:t>i​</a:t>
            </a:r>
            <a:r>
              <a:rPr lang="en" sz="1200">
                <a:solidFill>
                  <a:schemeClr val="dk1"/>
                </a:solidFill>
              </a:rPr>
              <a:t>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4)Not all multipliers zero : (λ0​,λ1​,…,λm​) 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≠ </a:t>
            </a:r>
            <a:r>
              <a:rPr lang="en" sz="1200">
                <a:solidFill>
                  <a:schemeClr val="dk1"/>
                </a:solidFill>
              </a:rPr>
              <a:t>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Special Case (KKT) : If λ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= 1 , </a:t>
            </a:r>
            <a:r>
              <a:rPr lang="en" sz="1100">
                <a:solidFill>
                  <a:schemeClr val="dk1"/>
                </a:solidFill>
              </a:rPr>
              <a:t>Then Fritz John → </a:t>
            </a:r>
            <a:r>
              <a:rPr b="1" lang="en" sz="1100">
                <a:solidFill>
                  <a:schemeClr val="dk1"/>
                </a:solidFill>
              </a:rPr>
              <a:t>KKT conditions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82" name="Google Shape;28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306" y="39199"/>
            <a:ext cx="2801350" cy="19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2225" y="3325844"/>
            <a:ext cx="2516025" cy="38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0"/>
          <p:cNvSpPr txBox="1"/>
          <p:nvPr>
            <p:ph idx="1" type="body"/>
          </p:nvPr>
        </p:nvSpPr>
        <p:spPr>
          <a:xfrm>
            <a:off x="56725" y="39200"/>
            <a:ext cx="90429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At optimum : Objective gradient + constraint gradients balance each other.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Balancing forces - Objective → pulling in one direction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Constraints → opposing forces. ( System stabilizes at equilibrium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- SVM optimization , Lagrangian dual problems , Constrained deep learning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289" name="Google Shape;289;p50"/>
          <p:cNvGraphicFramePr/>
          <p:nvPr/>
        </p:nvGraphicFramePr>
        <p:xfrm>
          <a:off x="56725" y="147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930450"/>
                <a:gridCol w="2078975"/>
                <a:gridCol w="2032575"/>
                <a:gridCol w="1846900"/>
              </a:tblGrid>
              <a:tr h="38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Concepts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Meaning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Simple</a:t>
                      </a:r>
                      <a:r>
                        <a:rPr lang="en" sz="1200"/>
                        <a:t> Idea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Key  Formula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Constrained Optimization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Optimize with Restrictions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Boundary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g(x) ≤ 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Feasible Direction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Stay inside Region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Allowed Movement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 g</a:t>
                      </a:r>
                      <a:r>
                        <a:rPr baseline="30000" lang="en" sz="1200"/>
                        <a:t>T </a:t>
                      </a:r>
                      <a:r>
                        <a:rPr lang="en" sz="1200"/>
                        <a:t>d ≤ 0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Descent Direction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Reduce Function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Downhill Movement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 f</a:t>
                      </a:r>
                      <a:r>
                        <a:rPr baseline="30000" lang="en" sz="1200"/>
                        <a:t>T</a:t>
                      </a:r>
                      <a:r>
                        <a:rPr lang="en" sz="1200"/>
                        <a:t> d &lt; 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Geometric Optimality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better Feasible Move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Best Point within Boundary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 f</a:t>
                      </a:r>
                      <a:r>
                        <a:rPr baseline="30000" lang="en" sz="1200"/>
                        <a:t>T</a:t>
                      </a:r>
                      <a:r>
                        <a:rPr lang="en" sz="1200"/>
                        <a:t> d ≥ 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Fritz John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General Optimality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Balance of Forces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Λ</a:t>
                      </a:r>
                      <a:r>
                        <a:rPr baseline="-25000" lang="en" sz="1200"/>
                        <a:t>0</a:t>
                      </a:r>
                      <a:r>
                        <a:rPr lang="en" sz="1200"/>
                        <a:t> ​∇f + ∑ λ</a:t>
                      </a:r>
                      <a:r>
                        <a:rPr baseline="-25000" lang="en" sz="1200"/>
                        <a:t>i</a:t>
                      </a:r>
                      <a:r>
                        <a:rPr lang="en" sz="1200"/>
                        <a:t>​ ∇ g</a:t>
                      </a:r>
                      <a:r>
                        <a:rPr baseline="-25000" lang="en" sz="1200"/>
                        <a:t>i</a:t>
                      </a:r>
                      <a:r>
                        <a:rPr lang="en" sz="1200"/>
                        <a:t>​ = 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idx="1" type="body"/>
          </p:nvPr>
        </p:nvSpPr>
        <p:spPr>
          <a:xfrm>
            <a:off x="56725" y="57775"/>
            <a:ext cx="90150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Numerical Sample Question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Constrained Optimization (Basic Problem)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,Subject to:  x+y−1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(Using Lagrange Method)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Lagrangian :  L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λ (x+y−1)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Partial derivatives :  ∂L/</a:t>
            </a:r>
            <a:r>
              <a:rPr lang="en" sz="1200">
                <a:solidFill>
                  <a:schemeClr val="dk1"/>
                </a:solidFill>
              </a:rPr>
              <a:t>∂x</a:t>
            </a:r>
            <a:r>
              <a:rPr lang="en" sz="1200">
                <a:solidFill>
                  <a:schemeClr val="dk1"/>
                </a:solidFill>
              </a:rPr>
              <a:t> = 2x + λ = 0  , ∂L​/</a:t>
            </a:r>
            <a:r>
              <a:rPr lang="en" sz="1200">
                <a:solidFill>
                  <a:schemeClr val="dk1"/>
                </a:solidFill>
              </a:rPr>
              <a:t>∂y </a:t>
            </a:r>
            <a:r>
              <a:rPr lang="en" sz="1200">
                <a:solidFill>
                  <a:schemeClr val="dk1"/>
                </a:solidFill>
              </a:rPr>
              <a:t> = 2y+λ = 0 , x+y−1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Solve :  From first two :  2x = 2y ⇒ x = y , Substitute : x+x = 1⇒ x= ½  , y = ½ ​ 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</a:t>
            </a:r>
            <a:r>
              <a:rPr lang="en" sz="1200">
                <a:solidFill>
                  <a:schemeClr val="dk1"/>
                </a:solidFill>
              </a:rPr>
              <a:t>r :-  (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, 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)=( </a:t>
            </a:r>
            <a:r>
              <a:rPr lang="en" sz="1200">
                <a:solidFill>
                  <a:schemeClr val="dk1"/>
                </a:solidFill>
              </a:rPr>
              <a:t>½ </a:t>
            </a:r>
            <a:r>
              <a:rPr lang="en" sz="1200">
                <a:solidFill>
                  <a:schemeClr val="dk1"/>
                </a:solidFill>
              </a:rPr>
              <a:t>​ , </a:t>
            </a:r>
            <a:r>
              <a:rPr lang="en" sz="1200">
                <a:solidFill>
                  <a:schemeClr val="dk1"/>
                </a:solidFill>
              </a:rPr>
              <a:t>½ </a:t>
            </a:r>
            <a:r>
              <a:rPr lang="en" sz="1200">
                <a:solidFill>
                  <a:schemeClr val="dk1"/>
                </a:solidFill>
              </a:rPr>
              <a:t>​) 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Feasible Direction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Problem : Given constraint : g(x,y) = x+y−1 ≤ 0 . At point  (0,1) , Check whether direction : d=(1,−1) is feasible.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 :  ∇g = ( 1, 1 )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Feasibility condition :  ∇g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d ≤ 0  =&gt;  (1,1)⋅(1,−1) = 1−1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Since: 0 ≤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Direction is </a:t>
            </a: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feasible. </a:t>
            </a:r>
            <a:endParaRPr b="1" sz="1200"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 txBox="1"/>
          <p:nvPr>
            <p:ph idx="1" type="body"/>
          </p:nvPr>
        </p:nvSpPr>
        <p:spPr>
          <a:xfrm>
            <a:off x="38175" y="48475"/>
            <a:ext cx="90615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3)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Descent Direction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Problem : Given : </a:t>
            </a:r>
            <a:r>
              <a:rPr lang="en" sz="1200">
                <a:solidFill>
                  <a:schemeClr val="dk1"/>
                </a:solidFill>
              </a:rPr>
              <a:t>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. At point: (1,1) , Check whether : d = (−1,0) is a descent direction.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 :  ∇f = (2x,2y) = (2,2)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Check condition : ∇f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 d &lt; 0 =&gt; (2,2) ⋅ (−1,0) = −2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Since: −2&lt;0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Direction is </a:t>
            </a: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descent direction.</a:t>
            </a:r>
            <a:endParaRPr b="1" sz="12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200">
                <a:solidFill>
                  <a:schemeClr val="dk1"/>
                </a:solidFill>
              </a:rPr>
            </a:br>
            <a:r>
              <a:rPr b="1" lang="en" sz="1200">
                <a:solidFill>
                  <a:schemeClr val="dk1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</a:rPr>
              <a:t>4)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Geometrical Optimality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Problem :- Minimize 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. Subject to: x+y ≤ 1 ,  Check whether point: (0.5,0.5) is optimal.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 : ∇f = (2x,2y) = (1,1)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Constraint gradient : ∇g = (1,1)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Check condition : At boundary : ∇f = λ ∇g =&gt;  (1,1) = λ(1,1)  =&gt; λ=1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Condition satisfied → optimal.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56725" y="76325"/>
            <a:ext cx="9042900" cy="5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5)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Fritz John Problem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</a:t>
            </a:r>
            <a:r>
              <a:rPr lang="en" sz="1200">
                <a:solidFill>
                  <a:schemeClr val="dk1"/>
                </a:solidFill>
              </a:rPr>
              <a:t>Minimize 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. Subject to: g(x,y) = x+y−1 ≤ 0 , Find optimal solution using </a:t>
            </a:r>
            <a:r>
              <a:rPr b="1" lang="en" sz="1200">
                <a:solidFill>
                  <a:schemeClr val="dk1"/>
                </a:solidFill>
              </a:rPr>
              <a:t>Fritz John conditions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Gradients : ∇f = (2x,2y) , ∇g = (1,1)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Fritz John condition :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​∇f +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∇g = 0  =&gt;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​(2x,2y)  + λ</a:t>
            </a:r>
            <a:r>
              <a:rPr baseline="-25000" lang="en" sz="1200">
                <a:solidFill>
                  <a:schemeClr val="dk1"/>
                </a:solidFill>
              </a:rPr>
              <a:t>1 </a:t>
            </a:r>
            <a:r>
              <a:rPr lang="en" sz="1200">
                <a:solidFill>
                  <a:schemeClr val="dk1"/>
                </a:solidFill>
              </a:rPr>
              <a:t>​(1,1)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Solve : 2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​x + λ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 = 0  =&gt; 2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​y +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Subtract: x = 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Constraint : x+y = 1 , 2x = 1⇒ x=½ ​ , y = ½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5: Multipliers : λ</a:t>
            </a:r>
            <a:r>
              <a:rPr baseline="-25000" lang="en" sz="1200">
                <a:solidFill>
                  <a:schemeClr val="dk1"/>
                </a:solidFill>
              </a:rPr>
              <a:t>1​</a:t>
            </a:r>
            <a:r>
              <a:rPr lang="en" sz="1200">
                <a:solidFill>
                  <a:schemeClr val="dk1"/>
                </a:solidFill>
              </a:rPr>
              <a:t> = −2 λ</a:t>
            </a:r>
            <a:r>
              <a:rPr baseline="-25000" lang="en" sz="1200">
                <a:solidFill>
                  <a:schemeClr val="dk1"/>
                </a:solidFill>
              </a:rPr>
              <a:t>0 </a:t>
            </a:r>
            <a:r>
              <a:rPr lang="en" sz="1200">
                <a:solidFill>
                  <a:schemeClr val="dk1"/>
                </a:solidFill>
              </a:rPr>
              <a:t>​x = −λ</a:t>
            </a:r>
            <a:r>
              <a:rPr baseline="-25000" lang="en" sz="1200">
                <a:solidFill>
                  <a:schemeClr val="dk1"/>
                </a:solidFill>
              </a:rPr>
              <a:t>0​​</a:t>
            </a:r>
            <a:endParaRPr baseline="-25000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 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(½ ​, ½ ​)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Fritz John (Concept Check Problem)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	Problem : Check if point satisfies Fritz John 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 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, g(x) = x−2 ≤ 0 , At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∗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= 2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Solution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1: Gradients : ∇f = 2x = 4 , ∇g = 1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2: Condition : λ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​(4) + λ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​(1) = 0 , Choose:- λ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​= 1, λ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​= −4  , Check feasibility: g(2) = 0 , 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Fritz John satisfied</a:t>
            </a:r>
            <a:endParaRPr sz="1200"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idx="1" type="body"/>
          </p:nvPr>
        </p:nvSpPr>
        <p:spPr>
          <a:xfrm>
            <a:off x="84600" y="67050"/>
            <a:ext cx="89871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Questions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1)Constrained Optimization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Q1 - Minimize: 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x+y = 2 . Find optimal x , 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Q2 -  </a:t>
            </a:r>
            <a:r>
              <a:rPr lang="en" sz="1200">
                <a:solidFill>
                  <a:schemeClr val="dk1"/>
                </a:solidFill>
              </a:rPr>
              <a:t>Minimize: 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 : x = 1 . Find optimal 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2)Feasible Direction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Q3 - Given constraint: g(x,y) = x+y−2 ≤ 0 . At point : (1,1) , Check if direction: d=(1,0) is feasible.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Q4 - For same constraint above, check whether: d = (−1,−1) , is feasible.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Q5 - g(x,y)=x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− 4 ≤ 0 . At point: (1,1) , Check whether: d = (1,1) , is feasible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Do the Descent Direction &amp; Geometrical Optimality of the above Numericals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3) Fritz John Conditions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Q7 - Given : 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g(x,y) = x+y−2 ≤ 0 . Write Fritz John condition equation.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Q8 - Given gradients: ∇f = (2,2) , ∇g = (1,1) . Write multiplier equation.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8</a:t>
            </a:r>
            <a:endParaRPr/>
          </a:p>
        </p:txBody>
      </p:sp>
      <p:sp>
        <p:nvSpPr>
          <p:cNvPr id="315" name="Google Shape;31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KKT Conditions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Char char="●"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SVM ( Support Vector Machine )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Char char="●"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Fritz John Conditions (Unconstraint Optimization)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idx="1" type="body"/>
          </p:nvPr>
        </p:nvSpPr>
        <p:spPr>
          <a:xfrm>
            <a:off x="56725" y="48475"/>
            <a:ext cx="9024300" cy="50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KKT (Karush–Kuhn–Tucker) Conditions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Problem (General Constrained Optimization) - </a:t>
            </a:r>
            <a:r>
              <a:rPr b="1" lang="en" sz="1200">
                <a:solidFill>
                  <a:schemeClr val="dk1"/>
                </a:solidFill>
              </a:rPr>
              <a:t>min f(x) </a:t>
            </a:r>
            <a:r>
              <a:rPr lang="en" sz="1200">
                <a:solidFill>
                  <a:schemeClr val="dk1"/>
                </a:solidFill>
              </a:rPr>
              <a:t> , subject to : g</a:t>
            </a:r>
            <a:r>
              <a:rPr baseline="-25000" lang="en" sz="1200">
                <a:solidFill>
                  <a:schemeClr val="dk1"/>
                </a:solidFill>
              </a:rPr>
              <a:t>i​</a:t>
            </a:r>
            <a:r>
              <a:rPr lang="en" sz="1200">
                <a:solidFill>
                  <a:schemeClr val="dk1"/>
                </a:solidFill>
              </a:rPr>
              <a:t> (x) ≤ 0 ( i = 1,…,m ) ,  h</a:t>
            </a:r>
            <a:r>
              <a:rPr baseline="-25000" lang="en" sz="1200">
                <a:solidFill>
                  <a:schemeClr val="dk1"/>
                </a:solidFill>
              </a:rPr>
              <a:t>j​ </a:t>
            </a:r>
            <a:r>
              <a:rPr lang="en" sz="1200">
                <a:solidFill>
                  <a:schemeClr val="dk1"/>
                </a:solidFill>
              </a:rPr>
              <a:t>(x) = 0 ( j = 1 ,…,p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Lagrangian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λ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​ → multipliers for inequalities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j</a:t>
            </a:r>
            <a:r>
              <a:rPr lang="en" sz="1200">
                <a:solidFill>
                  <a:schemeClr val="dk1"/>
                </a:solidFill>
              </a:rPr>
              <a:t>​ → multipliers for equalities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KKT Conditions :  At optimum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 there exist λ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, μ</a:t>
            </a:r>
            <a:r>
              <a:rPr baseline="-25000" lang="en" sz="1200">
                <a:solidFill>
                  <a:schemeClr val="dk1"/>
                </a:solidFill>
              </a:rPr>
              <a:t>j​</a:t>
            </a:r>
            <a:r>
              <a:rPr lang="en" sz="1200">
                <a:solidFill>
                  <a:schemeClr val="dk1"/>
                </a:solidFill>
              </a:rPr>
              <a:t> such that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 </a:t>
            </a:r>
            <a:r>
              <a:rPr lang="en" sz="1200">
                <a:solidFill>
                  <a:schemeClr val="dk1"/>
                </a:solidFill>
              </a:rPr>
              <a:t>Stationarity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2) Primal Feasibility :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​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≤ 0 , h</a:t>
            </a:r>
            <a:r>
              <a:rPr baseline="-25000" lang="en" sz="1200">
                <a:solidFill>
                  <a:schemeClr val="dk1"/>
                </a:solidFill>
              </a:rPr>
              <a:t>j</a:t>
            </a:r>
            <a:r>
              <a:rPr lang="en" sz="1200">
                <a:solidFill>
                  <a:schemeClr val="dk1"/>
                </a:solidFill>
              </a:rPr>
              <a:t>​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3) Dual Feasibility : λ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​ ≥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4) Complementary Slackness : λ</a:t>
            </a:r>
            <a:r>
              <a:rPr baseline="-25000" lang="en" sz="1200">
                <a:solidFill>
                  <a:schemeClr val="dk1"/>
                </a:solidFill>
              </a:rPr>
              <a:t>i​</a:t>
            </a:r>
            <a:r>
              <a:rPr lang="en" sz="1200">
                <a:solidFill>
                  <a:schemeClr val="dk1"/>
                </a:solidFill>
              </a:rPr>
              <a:t>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Geometric Meaning : a) The </a:t>
            </a:r>
            <a:r>
              <a:rPr b="1" lang="en" sz="1200">
                <a:solidFill>
                  <a:schemeClr val="dk1"/>
                </a:solidFill>
              </a:rPr>
              <a:t>objective gradient</a:t>
            </a:r>
            <a:r>
              <a:rPr lang="en" sz="1200">
                <a:solidFill>
                  <a:schemeClr val="dk1"/>
                </a:solidFill>
              </a:rPr>
              <a:t> is balanced by </a:t>
            </a:r>
            <a:r>
              <a:rPr b="1" lang="en" sz="1200">
                <a:solidFill>
                  <a:schemeClr val="dk1"/>
                </a:solidFill>
              </a:rPr>
              <a:t>active constraints’ gradients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b) Only </a:t>
            </a:r>
            <a:r>
              <a:rPr b="1" lang="en" sz="1200">
                <a:solidFill>
                  <a:schemeClr val="dk1"/>
                </a:solidFill>
              </a:rPr>
              <a:t>active constraints</a:t>
            </a:r>
            <a:r>
              <a:rPr lang="en" sz="1200">
                <a:solidFill>
                  <a:schemeClr val="dk1"/>
                </a:solidFill>
              </a:rPr>
              <a:t> ( where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0 ) influence the solution.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Diet optimization - Minimize cost while meeting nutrition constraints.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At optimum - Some constraints are active (e.g., minimum protein met exactly)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Others inactive (e.g., vitamin limit not tight)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Core to </a:t>
            </a:r>
            <a:r>
              <a:rPr b="1" lang="en" sz="1200">
                <a:solidFill>
                  <a:schemeClr val="dk1"/>
                </a:solidFill>
              </a:rPr>
              <a:t>SVM training , </a:t>
            </a:r>
            <a:r>
              <a:rPr lang="en" sz="1200">
                <a:solidFill>
                  <a:schemeClr val="dk1"/>
                </a:solidFill>
              </a:rPr>
              <a:t>Used in </a:t>
            </a:r>
            <a:r>
              <a:rPr b="1" lang="en" sz="1200">
                <a:solidFill>
                  <a:schemeClr val="dk1"/>
                </a:solidFill>
              </a:rPr>
              <a:t>regularization (L1/L2 constraints) , </a:t>
            </a:r>
            <a:r>
              <a:rPr lang="en" sz="1200">
                <a:solidFill>
                  <a:schemeClr val="dk1"/>
                </a:solidFill>
              </a:rPr>
              <a:t>Appears in </a:t>
            </a:r>
            <a:r>
              <a:rPr b="1" lang="en" sz="1200">
                <a:solidFill>
                  <a:schemeClr val="dk1"/>
                </a:solidFill>
              </a:rPr>
              <a:t>resource-constrained ML (edge devices)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21" name="Google Shape;3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504900"/>
            <a:ext cx="3335050" cy="3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975" y="1674434"/>
            <a:ext cx="3054550" cy="4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7"/>
          <p:cNvSpPr txBox="1"/>
          <p:nvPr>
            <p:ph idx="1" type="body"/>
          </p:nvPr>
        </p:nvSpPr>
        <p:spPr>
          <a:xfrm>
            <a:off x="47450" y="48475"/>
            <a:ext cx="90522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Support Vector Machine (SVM)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Aim : Find a </a:t>
            </a:r>
            <a:r>
              <a:rPr b="1" lang="en" sz="1200">
                <a:solidFill>
                  <a:schemeClr val="dk1"/>
                </a:solidFill>
              </a:rPr>
              <a:t>maximum margin hyperplane</a:t>
            </a:r>
            <a:r>
              <a:rPr lang="en" sz="1200">
                <a:solidFill>
                  <a:schemeClr val="dk1"/>
                </a:solidFill>
              </a:rPr>
              <a:t> that separates two classes.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arenR"/>
            </a:pPr>
            <a:r>
              <a:rPr lang="en" sz="1200">
                <a:solidFill>
                  <a:schemeClr val="dk1"/>
                </a:solidFill>
              </a:rPr>
              <a:t>Hard-Margin SVM (Linearly Separable)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Given data (x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, y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) , y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​∈ {−1,+1} :                     , subject to : y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​(w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-25000" lang="en" sz="1200">
                <a:solidFill>
                  <a:schemeClr val="dk1"/>
                </a:solidFill>
              </a:rPr>
              <a:t>i​</a:t>
            </a:r>
            <a:r>
              <a:rPr lang="en" sz="1200">
                <a:solidFill>
                  <a:schemeClr val="dk1"/>
                </a:solidFill>
              </a:rPr>
              <a:t> + b ) ≥ 1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arenR"/>
            </a:pPr>
            <a:r>
              <a:rPr lang="en" sz="1200">
                <a:solidFill>
                  <a:schemeClr val="dk1"/>
                </a:solidFill>
              </a:rPr>
              <a:t>Lagrangian (Using KKT)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c) KKT Conditions in SVM 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              i) Stationarity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ii) Complementary Slackness : α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​[ y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 w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-25000" lang="en" sz="1200">
                <a:solidFill>
                  <a:schemeClr val="dk1"/>
                </a:solidFill>
              </a:rPr>
              <a:t>i​ </a:t>
            </a:r>
            <a:r>
              <a:rPr lang="en" sz="1200">
                <a:solidFill>
                  <a:schemeClr val="dk1"/>
                </a:solidFill>
              </a:rPr>
              <a:t>+ b ) − 1 ]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iii) α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​≥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Key Idea :  Only points with α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&gt; 0  matter → </a:t>
            </a:r>
            <a:r>
              <a:rPr b="1" lang="en" sz="1200">
                <a:solidFill>
                  <a:schemeClr val="dk1"/>
                </a:solidFill>
              </a:rPr>
              <a:t>Support Vectors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 : </a:t>
            </a:r>
            <a:r>
              <a:rPr lang="en" sz="1200">
                <a:solidFill>
                  <a:schemeClr val="dk1"/>
                </a:solidFill>
              </a:rPr>
              <a:t>Email Spam Detection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Emails → data points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Boundary → separates spam vs non-spam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Support vectors → critical borderline emails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SVM is used in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Text classification , Face detection 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Bioinformatics , Kernel methods (non-linear SVM)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28" name="Google Shape;3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825" y="910232"/>
            <a:ext cx="765675" cy="3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250" y="1301848"/>
            <a:ext cx="3258774" cy="39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0750" y="1637750"/>
            <a:ext cx="974825" cy="4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1025" y="1747597"/>
            <a:ext cx="4428625" cy="183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3025" y="48475"/>
            <a:ext cx="3295925" cy="170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8100" y="3585800"/>
            <a:ext cx="3667301" cy="155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8"/>
          <p:cNvSpPr txBox="1"/>
          <p:nvPr>
            <p:ph idx="1" type="body"/>
          </p:nvPr>
        </p:nvSpPr>
        <p:spPr>
          <a:xfrm>
            <a:off x="47450" y="57775"/>
            <a:ext cx="90429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Fritz John Conditions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General Form (Constrained) : min f(x) ,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​(x) ≤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Fritz John Conditions : There exist multipliers:  λ0​,λ1​,…,λm​ , such that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1)Stationarity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2)Dual Feasibility: λ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​≥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3)Complementary Slackness : λ</a:t>
            </a:r>
            <a:r>
              <a:rPr baseline="-25000" lang="en" sz="1200">
                <a:solidFill>
                  <a:schemeClr val="dk1"/>
                </a:solidFill>
              </a:rPr>
              <a:t>i​</a:t>
            </a:r>
            <a:r>
              <a:rPr lang="en" sz="1200">
                <a:solidFill>
                  <a:schemeClr val="dk1"/>
                </a:solidFill>
              </a:rPr>
              <a:t> g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​(x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4)Non-triviality : (λ0​,λ1​,…,λm​) </a:t>
            </a:r>
            <a:r>
              <a:rPr lang="en" sz="1200">
                <a:solidFill>
                  <a:srgbClr val="0A0A0A"/>
                </a:solidFill>
                <a:highlight>
                  <a:schemeClr val="lt1"/>
                </a:highlight>
              </a:rPr>
              <a:t>≠</a:t>
            </a:r>
            <a:r>
              <a:rPr lang="en" sz="1200">
                <a:solidFill>
                  <a:schemeClr val="dk1"/>
                </a:solidFill>
              </a:rPr>
              <a:t>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Relation to KKT : If </a:t>
            </a:r>
            <a:r>
              <a:rPr b="1" lang="en" sz="1200">
                <a:solidFill>
                  <a:schemeClr val="dk1"/>
                </a:solidFill>
              </a:rPr>
              <a:t>λ</a:t>
            </a:r>
            <a:r>
              <a:rPr b="1" baseline="-25000" lang="en" sz="1200">
                <a:solidFill>
                  <a:schemeClr val="dk1"/>
                </a:solidFill>
              </a:rPr>
              <a:t>0</a:t>
            </a:r>
            <a:r>
              <a:rPr b="1" lang="en" sz="1200">
                <a:solidFill>
                  <a:schemeClr val="dk1"/>
                </a:solidFill>
              </a:rPr>
              <a:t> = 1</a:t>
            </a:r>
            <a:r>
              <a:rPr lang="en" sz="1200">
                <a:solidFill>
                  <a:schemeClr val="dk1"/>
                </a:solidFill>
              </a:rPr>
              <a:t> → becomes </a:t>
            </a:r>
            <a:r>
              <a:rPr b="1" lang="en" sz="1200">
                <a:solidFill>
                  <a:schemeClr val="dk1"/>
                </a:solidFill>
              </a:rPr>
              <a:t>KKT conditions</a:t>
            </a:r>
            <a:r>
              <a:rPr lang="en" sz="1200">
                <a:solidFill>
                  <a:schemeClr val="dk1"/>
                </a:solidFill>
              </a:rPr>
              <a:t>  , Fritz John is more </a:t>
            </a:r>
            <a:r>
              <a:rPr b="1" lang="en" sz="1200">
                <a:solidFill>
                  <a:schemeClr val="dk1"/>
                </a:solidFill>
              </a:rPr>
              <a:t>general</a:t>
            </a:r>
            <a:r>
              <a:rPr lang="en" sz="1200">
                <a:solidFill>
                  <a:schemeClr val="dk1"/>
                </a:solidFill>
              </a:rPr>
              <a:t> (does not require constraint qualification)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Special Case: </a:t>
            </a:r>
            <a:r>
              <a:rPr b="1" lang="en" sz="1200">
                <a:solidFill>
                  <a:schemeClr val="dk1"/>
                </a:solidFill>
              </a:rPr>
              <a:t>Unconstrained Optimization </a:t>
            </a:r>
            <a:r>
              <a:rPr lang="en" sz="1200">
                <a:solidFill>
                  <a:schemeClr val="dk1"/>
                </a:solidFill>
              </a:rPr>
              <a:t>                    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If no constraints: min f(x) , Then:  ∇f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  , This is </a:t>
            </a:r>
            <a:r>
              <a:rPr b="1" lang="en" sz="1200">
                <a:solidFill>
                  <a:schemeClr val="dk1"/>
                </a:solidFill>
              </a:rPr>
              <a:t>Fritz John reduced form.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Force balance system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[ Objective → one force , Constraints → opposing forces , At equilibrium → all forces balance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</a:t>
            </a:r>
            <a:r>
              <a:rPr b="1" lang="en" sz="1200">
                <a:solidFill>
                  <a:schemeClr val="dk1"/>
                </a:solidFill>
              </a:rPr>
              <a:t>Lagrangian dual problems , </a:t>
            </a:r>
            <a:r>
              <a:rPr lang="en" sz="1200">
                <a:solidFill>
                  <a:schemeClr val="dk1"/>
                </a:solidFill>
              </a:rPr>
              <a:t>Basis of </a:t>
            </a:r>
            <a:r>
              <a:rPr b="1" lang="en" sz="1200">
                <a:solidFill>
                  <a:schemeClr val="dk1"/>
                </a:solidFill>
              </a:rPr>
              <a:t>SVM optimization theory ,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Appears in </a:t>
            </a:r>
            <a:r>
              <a:rPr b="1" lang="en" sz="1200">
                <a:solidFill>
                  <a:schemeClr val="dk1"/>
                </a:solidFill>
              </a:rPr>
              <a:t>deep learning constrained training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339" name="Google Shape;33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269" y="925344"/>
            <a:ext cx="2358200" cy="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 txBox="1"/>
          <p:nvPr>
            <p:ph idx="1" type="body"/>
          </p:nvPr>
        </p:nvSpPr>
        <p:spPr>
          <a:xfrm>
            <a:off x="56725" y="67050"/>
            <a:ext cx="9015000" cy="49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TABLE</a:t>
            </a:r>
            <a:endParaRPr sz="1400"/>
          </a:p>
        </p:txBody>
      </p:sp>
      <p:graphicFrame>
        <p:nvGraphicFramePr>
          <p:cNvPr id="345" name="Google Shape;345;p59"/>
          <p:cNvGraphicFramePr/>
          <p:nvPr/>
        </p:nvGraphicFramePr>
        <p:xfrm>
          <a:off x="293300" y="59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185375"/>
                <a:gridCol w="3097975"/>
                <a:gridCol w="1566050"/>
                <a:gridCol w="271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Concept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Equation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KKT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Balance between objective &amp; constraints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∇f + ∑λ∇g = 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Standard constrained optimization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Best separating boundary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min ½  ​∥w∥</a:t>
                      </a:r>
                      <a:r>
                        <a:rPr baseline="30000" lang="en" sz="1200"/>
                        <a:t>2</a:t>
                      </a:r>
                      <a:endParaRPr baseline="30000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Classification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Fritz John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General condition for optimality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Λ</a:t>
                      </a:r>
                      <a:r>
                        <a:rPr baseline="-25000" lang="en" sz="1200"/>
                        <a:t>0</a:t>
                      </a:r>
                      <a:r>
                        <a:rPr lang="en" sz="1200"/>
                        <a:t>​ ∇f + ∑ λ</a:t>
                      </a:r>
                      <a:r>
                        <a:rPr baseline="-25000" lang="en" sz="1200"/>
                        <a:t>i</a:t>
                      </a:r>
                      <a:r>
                        <a:rPr lang="en" sz="1200"/>
                        <a:t> ​∇g</a:t>
                      </a:r>
                      <a:r>
                        <a:rPr baseline="-25000" lang="en" sz="1200"/>
                        <a:t>i</a:t>
                      </a:r>
                      <a:r>
                        <a:rPr lang="en" sz="1200"/>
                        <a:t>​ = 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General optimality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Unconstrained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Flat slope at optimum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∇f = 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Simple optimization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idx="1" type="body"/>
          </p:nvPr>
        </p:nvSpPr>
        <p:spPr>
          <a:xfrm>
            <a:off x="0" y="85625"/>
            <a:ext cx="9099600" cy="49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NUMERICAL  SOLUTION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1)KKT Conditions (Equality Constraint)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-  Minimize: f(x,y)  = 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 : x + y 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Lagrangian  :  L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λ(x + y − 1)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Stationarity  : ∂L​/∂x  = 2x + λ = 0 , ∂L/∂y = 2y + λ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Solve  :  2x = 2y ⇒ x = y ,   x+y = 1⇒ 2x = 1 ,   x=½ ​, y=½ 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 </a:t>
            </a:r>
            <a:r>
              <a:rPr lang="en" sz="1200">
                <a:solidFill>
                  <a:schemeClr val="dk1"/>
                </a:solidFill>
              </a:rPr>
              <a:t>: 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)=(1/2​ , 1/2​)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2) KKT Conditions (Inequality Constraint)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-  Minimize 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 : g(x) = x−1 ≥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Solution:   Rewrite constraint: g(x) = 1−x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Lagrangian : L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λ(1−x)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Stationarity : dL/dx ​= 2x − λ = 0 , λ = 2x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Complementary slackness : λ(1−x)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1: x&lt;1 =&gt; Not feasible → reject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2: x=1 =&gt; λ =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1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/>
          <p:nvPr>
            <p:ph idx="1" type="body"/>
          </p:nvPr>
        </p:nvSpPr>
        <p:spPr>
          <a:xfrm>
            <a:off x="66025" y="67050"/>
            <a:ext cx="9033600" cy="5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3) SVM (Hard Margin)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 Given points - Class +1: (2,2),(4,4)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Class -1: (2,0),(4,0) ,  Find separating hyperplane.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Assume form : w</a:t>
            </a:r>
            <a:r>
              <a:rPr baseline="30000" lang="en" sz="1200">
                <a:solidFill>
                  <a:schemeClr val="dk1"/>
                </a:solidFill>
              </a:rPr>
              <a:t>T</a:t>
            </a:r>
            <a:r>
              <a:rPr lang="en" sz="1200">
                <a:solidFill>
                  <a:schemeClr val="dk1"/>
                </a:solidFill>
              </a:rPr>
              <a:t>x + b = 0 , Let: w = (w1​ , w2​)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Constraints :  For +1: w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​x + w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​y + b ≥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For  -1: w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​x + w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​y + b ≤ −1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Observation : Points differ only in </a:t>
            </a:r>
            <a:r>
              <a:rPr b="1" lang="en" sz="1200">
                <a:solidFill>
                  <a:schemeClr val="dk1"/>
                </a:solidFill>
              </a:rPr>
              <a:t>y-direction , </a:t>
            </a:r>
            <a:r>
              <a:rPr lang="en" sz="1200">
                <a:solidFill>
                  <a:schemeClr val="dk1"/>
                </a:solidFill>
              </a:rPr>
              <a:t>So choose : w = (0,1)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Find b , For (2,2) : 2 + b = 1 ⇒ b = −1 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Final Hyperplane : y − 1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Answer </a:t>
            </a:r>
            <a:r>
              <a:rPr lang="en" sz="1200">
                <a:solidFill>
                  <a:schemeClr val="dk1"/>
                </a:solidFill>
              </a:rPr>
              <a:t>: w = (0,1) , b = −1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4) SVM (Support Vectors Identification)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 Given hyperplane:  y 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Find support vectors from : (2,2), (4,4), (2,0), (4,0)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  Support vectors lie on:  y = 2 and y = 0 , Closest points : (2,2), (2,0)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Answer</a:t>
            </a:r>
            <a:r>
              <a:rPr lang="en" sz="1200">
                <a:solidFill>
                  <a:schemeClr val="dk1"/>
                </a:solidFill>
              </a:rPr>
              <a:t> :  Support vectors = (2,2),(2,0)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2"/>
          <p:cNvSpPr txBox="1"/>
          <p:nvPr>
            <p:ph idx="1" type="body"/>
          </p:nvPr>
        </p:nvSpPr>
        <p:spPr>
          <a:xfrm>
            <a:off x="56725" y="39200"/>
            <a:ext cx="90429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5)Fritz John Conditions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 : g(x,y) = x + y −2 ≤ 0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Gradients : ∇f = (2x , 2y) , ∇g=(1,1)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Fritz John equation  : λ</a:t>
            </a:r>
            <a:r>
              <a:rPr baseline="-25000" lang="en" sz="1200">
                <a:solidFill>
                  <a:schemeClr val="dk1"/>
                </a:solidFill>
              </a:rPr>
              <a:t>0​</a:t>
            </a:r>
            <a:r>
              <a:rPr lang="en" sz="1200">
                <a:solidFill>
                  <a:schemeClr val="dk1"/>
                </a:solidFill>
              </a:rPr>
              <a:t> (2x,2y) +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(1,1)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Solve  : 2λ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 ​x +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0 , 2λ</a:t>
            </a:r>
            <a:r>
              <a:rPr baseline="-25000" lang="en" sz="1200">
                <a:solidFill>
                  <a:schemeClr val="dk1"/>
                </a:solidFill>
              </a:rPr>
              <a:t>0​ </a:t>
            </a:r>
            <a:r>
              <a:rPr lang="en" sz="1200">
                <a:solidFill>
                  <a:schemeClr val="dk1"/>
                </a:solidFill>
              </a:rPr>
              <a:t>y</a:t>
            </a:r>
            <a:r>
              <a:rPr lang="en" sz="1200">
                <a:solidFill>
                  <a:schemeClr val="dk1"/>
                </a:solidFill>
              </a:rPr>
              <a:t> +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0  =&gt; </a:t>
            </a:r>
            <a:r>
              <a:rPr lang="en" sz="1200">
                <a:solidFill>
                  <a:schemeClr val="dk1"/>
                </a:solidFill>
              </a:rPr>
              <a:t>Subtract : x = 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Constraint  : x + y = 2 , 2x = 2 ⇒ x = 1 , y = 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5: Multipliers  :  λ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​ = −2 λ</a:t>
            </a:r>
            <a:r>
              <a:rPr baseline="-25000" lang="en" sz="1200">
                <a:solidFill>
                  <a:schemeClr val="dk1"/>
                </a:solidFill>
              </a:rPr>
              <a:t>0</a:t>
            </a:r>
            <a:r>
              <a:rPr lang="en" sz="1200">
                <a:solidFill>
                  <a:schemeClr val="dk1"/>
                </a:solidFill>
              </a:rPr>
              <a:t>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 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(1,1)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6)Fritz John (Unconstrained Case)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 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− 4x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Gradient : df/dx  = 2x − 4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Set zero : 2x −4 = 0 , x =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2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idx="1" type="body"/>
          </p:nvPr>
        </p:nvSpPr>
        <p:spPr>
          <a:xfrm>
            <a:off x="38175" y="39200"/>
            <a:ext cx="90615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1"/>
                </a:highlight>
              </a:rPr>
              <a:t>Practise Question</a:t>
            </a:r>
            <a:endParaRPr sz="1400">
              <a:solidFill>
                <a:schemeClr val="dk1"/>
              </a:solidFill>
              <a:highlight>
                <a:schemeClr val="accen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00"/>
                </a:highlight>
              </a:rPr>
              <a:t>A)KKT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1) Minimize: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, Subject to: x ≥ 1 , Find optimal x using KKT.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2) Minimize: </a:t>
            </a:r>
            <a:r>
              <a:rPr lang="en" sz="1200">
                <a:solidFill>
                  <a:schemeClr val="dk1"/>
                </a:solidFill>
              </a:rPr>
              <a:t>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Subject to: </a:t>
            </a:r>
            <a:r>
              <a:rPr lang="en" sz="1200">
                <a:solidFill>
                  <a:schemeClr val="dk1"/>
                </a:solidFill>
              </a:rPr>
              <a:t>x+y = 2 , Find optimal x,y 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3) Write the </a:t>
            </a:r>
            <a:r>
              <a:rPr b="1" lang="en" sz="1200">
                <a:solidFill>
                  <a:schemeClr val="dk1"/>
                </a:solidFill>
              </a:rPr>
              <a:t>Lagrangian</a:t>
            </a:r>
            <a:r>
              <a:rPr lang="en" sz="1200">
                <a:solidFill>
                  <a:schemeClr val="dk1"/>
                </a:solidFill>
              </a:rPr>
              <a:t> for: 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x+y−1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B) SVM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1)Given two points: Class +1: (2,2)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Class -1: (2,0) , Suggest a separating line.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2)Given hyperplane: y= 1 , Classify point (2,2) and (2,0)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C)Fritz John Conditions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1)Write Fritz John condition for: min f(x) , subject to : g(x)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D)Unconstrained Optimization (Fritz John Case)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1)Find minimum of: 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− 4x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2)Find stationary point of: 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+ 2x + 1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9</a:t>
            </a:r>
            <a:endParaRPr/>
          </a:p>
        </p:txBody>
      </p:sp>
      <p:sp>
        <p:nvSpPr>
          <p:cNvPr id="371" name="Google Shape;37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KKT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SVM explained in detailed in the recorded classes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10</a:t>
            </a:r>
            <a:endParaRPr/>
          </a:p>
        </p:txBody>
      </p:sp>
      <p:sp>
        <p:nvSpPr>
          <p:cNvPr id="377" name="Google Shape;377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methods for Constrained Optimisation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Lagrange Multiplier Method, </a:t>
            </a:r>
            <a:r>
              <a:rPr lang="en"/>
              <a:t>Penalty</a:t>
            </a:r>
            <a:r>
              <a:rPr lang="en"/>
              <a:t>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Quadratic Penalty Function and it’s Variants: Exact Penality Function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/>
          <p:nvPr>
            <p:ph idx="1" type="body"/>
          </p:nvPr>
        </p:nvSpPr>
        <p:spPr>
          <a:xfrm>
            <a:off x="56725" y="0"/>
            <a:ext cx="9042900" cy="50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Lagrange Multiplier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Equality Constraints (Problem)  : </a:t>
            </a:r>
            <a:r>
              <a:rPr b="1" lang="en" sz="1200">
                <a:solidFill>
                  <a:schemeClr val="dk1"/>
                </a:solidFill>
              </a:rPr>
              <a:t>min f(x)</a:t>
            </a:r>
            <a:r>
              <a:rPr lang="en" sz="1200">
                <a:solidFill>
                  <a:schemeClr val="dk1"/>
                </a:solidFill>
              </a:rPr>
              <a:t> subject to </a:t>
            </a:r>
            <a:r>
              <a:rPr b="1" lang="en" sz="1200">
                <a:solidFill>
                  <a:schemeClr val="dk1"/>
                </a:solidFill>
              </a:rPr>
              <a:t>h(x) = 0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Lagrangian :  L(x,λ) = f(x) + λ h(x)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Optimality Conditions  :  ∇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​L =∇ f(x) + λ ∇h(x) = 0  , h(x)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GOAL (or Idea ) is :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∇f → direction of improvement , ∇h → constraint boundary , At optimum : ∇f = −λ ∇h , Gradients are </a:t>
            </a: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parallel</a:t>
            </a:r>
            <a:endParaRPr b="1"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Maximizing output with fixed resources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i) Maximize profit ,  ii) Constraint: limited budget , At optimum → we can’t improve profit without violating budget.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</a:t>
            </a:r>
            <a:r>
              <a:rPr b="1" lang="en" sz="1200">
                <a:solidFill>
                  <a:schemeClr val="dk1"/>
                </a:solidFill>
              </a:rPr>
              <a:t>SVM dual formulation ,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Equality constraints</a:t>
            </a:r>
            <a:r>
              <a:rPr lang="en" sz="1200">
                <a:solidFill>
                  <a:schemeClr val="dk1"/>
                </a:solidFill>
              </a:rPr>
              <a:t> in optimization , </a:t>
            </a:r>
            <a:r>
              <a:rPr b="1" lang="en" sz="1200">
                <a:solidFill>
                  <a:schemeClr val="dk1"/>
                </a:solidFill>
              </a:rPr>
              <a:t>Physics-informed ML</a:t>
            </a:r>
            <a:r>
              <a:rPr lang="en" sz="1200">
                <a:solidFill>
                  <a:schemeClr val="dk1"/>
                </a:solidFill>
              </a:rPr>
              <a:t> models.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Penalty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Goal : Convert </a:t>
            </a:r>
            <a:r>
              <a:rPr b="1" lang="en" sz="1200">
                <a:solidFill>
                  <a:schemeClr val="dk1"/>
                </a:solidFill>
              </a:rPr>
              <a:t>constrained problem</a:t>
            </a:r>
            <a:r>
              <a:rPr lang="en" sz="1200">
                <a:solidFill>
                  <a:schemeClr val="dk1"/>
                </a:solidFill>
              </a:rPr>
              <a:t> into </a:t>
            </a:r>
            <a:r>
              <a:rPr b="1" lang="en" sz="1200">
                <a:solidFill>
                  <a:schemeClr val="dk1"/>
                </a:solidFill>
              </a:rPr>
              <a:t>unconstrained problem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</a:t>
            </a:r>
            <a:r>
              <a:rPr b="1" lang="en" sz="1200">
                <a:solidFill>
                  <a:schemeClr val="dk1"/>
                </a:solidFill>
              </a:rPr>
              <a:t>min f(x)</a:t>
            </a:r>
            <a:r>
              <a:rPr lang="en" sz="1200">
                <a:solidFill>
                  <a:schemeClr val="dk1"/>
                </a:solidFill>
              </a:rPr>
              <a:t> subject to </a:t>
            </a:r>
            <a:r>
              <a:rPr b="1" lang="en" sz="1200">
                <a:solidFill>
                  <a:schemeClr val="dk1"/>
                </a:solidFill>
              </a:rPr>
              <a:t>g(x) ≤ 0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Penalty Function </a:t>
            </a:r>
            <a:r>
              <a:rPr lang="en" sz="1200">
                <a:solidFill>
                  <a:schemeClr val="dk1"/>
                </a:solidFill>
              </a:rPr>
              <a:t>states</a:t>
            </a:r>
            <a:r>
              <a:rPr b="1" lang="en" sz="1200">
                <a:solidFill>
                  <a:schemeClr val="dk1"/>
                </a:solidFill>
              </a:rPr>
              <a:t> 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F(x,r) = f(x) + r ⋅ P(x)</a:t>
            </a:r>
            <a:endParaRPr sz="12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Where : r = penalty parameter , P(x) = penalty for violating constraints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 : If constraints are violated → heavy penalty , so it Forces solution toward feasible region.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Traffic rules - Driving fine (penalty) increases if you break rules (Encourages staying within constraints)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Constrained neural networks , Regularization (L1, L2) , Reinforcement learning with penalties.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/>
          <p:nvPr>
            <p:ph idx="1" type="body"/>
          </p:nvPr>
        </p:nvSpPr>
        <p:spPr>
          <a:xfrm>
            <a:off x="47450" y="39200"/>
            <a:ext cx="90522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Quadratic Penalty Function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Equality Constraint : h(x) = 0 , Penalty function : F(x,r) = f(x) + r [ h(x) ]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Inequality Constraint : g(x) ≤ 0  , </a:t>
            </a:r>
            <a:r>
              <a:rPr lang="en" sz="1200">
                <a:solidFill>
                  <a:schemeClr val="dk1"/>
                </a:solidFill>
              </a:rPr>
              <a:t>Penalty function : </a:t>
            </a:r>
            <a:r>
              <a:rPr lang="en" sz="1200">
                <a:solidFill>
                  <a:schemeClr val="dk1"/>
                </a:solidFill>
              </a:rPr>
              <a:t>F(x,r) = f(x) + r [ max (0,g(x)) ]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Algorithm Steps : 1) Choose small r    2) Minimize F( x,r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3) Increase r→∞      4) Repeat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Goal : Squared penalty → smooth function , But requires large r for accuracy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Late submission penalty (Penalty grows </a:t>
            </a:r>
            <a:r>
              <a:rPr b="1" lang="en" sz="1200">
                <a:solidFill>
                  <a:schemeClr val="dk1"/>
                </a:solidFill>
              </a:rPr>
              <a:t>quadratically</a:t>
            </a:r>
            <a:r>
              <a:rPr lang="en" sz="1200">
                <a:solidFill>
                  <a:schemeClr val="dk1"/>
                </a:solidFill>
              </a:rPr>
              <a:t> with delay.)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Loss functions with penalty terms  , Regularized regression : L = error + λ ∥w∥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Exact Penalty Function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Quadratic penalty needs r→∞  (Exact penalty solves this)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Form : For equality constraint :  F(x,r) = f(x) + r ∣h(x)∣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inequality : F(x,r) = f(x) + r . max (0,g(x))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Key Property  : Solution is exact for </a:t>
            </a:r>
            <a:r>
              <a:rPr b="1" lang="en" sz="1200">
                <a:solidFill>
                  <a:schemeClr val="dk1"/>
                </a:solidFill>
              </a:rPr>
              <a:t>finite r  </a:t>
            </a:r>
            <a:r>
              <a:rPr lang="en" sz="1200">
                <a:solidFill>
                  <a:schemeClr val="dk1"/>
                </a:solidFill>
              </a:rPr>
              <a:t>( No need for r→∞)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 : Linear penalty is </a:t>
            </a:r>
            <a:r>
              <a:rPr b="1" lang="en" sz="1200">
                <a:solidFill>
                  <a:schemeClr val="dk1"/>
                </a:solidFill>
              </a:rPr>
              <a:t>sharper , </a:t>
            </a:r>
            <a:r>
              <a:rPr lang="en" sz="1200">
                <a:solidFill>
                  <a:schemeClr val="dk1"/>
                </a:solidFill>
              </a:rPr>
              <a:t>Stronger push toward feasibility.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Real-Life Example : Strict penalty system (Immediate penalty if rule violated , No gradual tolerance)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 </a:t>
            </a:r>
            <a:r>
              <a:rPr lang="en" sz="1200">
                <a:solidFill>
                  <a:schemeClr val="dk1"/>
                </a:solidFill>
              </a:rPr>
              <a:t>:Used in - Sparse optimization (L1 penalty) , Robust loss functions , Constraint enforcement in deep learning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8"/>
          <p:cNvSpPr txBox="1"/>
          <p:nvPr>
            <p:ph idx="1" type="body"/>
          </p:nvPr>
        </p:nvSpPr>
        <p:spPr>
          <a:xfrm>
            <a:off x="47450" y="48475"/>
            <a:ext cx="90336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Comparison Table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graphicFrame>
        <p:nvGraphicFramePr>
          <p:cNvPr id="393" name="Google Shape;393;p68"/>
          <p:cNvGraphicFramePr/>
          <p:nvPr/>
        </p:nvGraphicFramePr>
        <p:xfrm>
          <a:off x="460425" y="52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151400"/>
                <a:gridCol w="893525"/>
                <a:gridCol w="1468200"/>
                <a:gridCol w="1793350"/>
                <a:gridCol w="24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Method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Formula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Advantage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Limitation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Meaning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Lagrange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r>
                        <a:rPr lang="en" sz="1200"/>
                        <a:t> + λh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Exact solution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Needs equality constraint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Balance constraint &amp; objective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Penalty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r>
                        <a:rPr lang="en" sz="1200"/>
                        <a:t> + r . P(x)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Converts to unconstrained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Needs Tuning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Punish constraint violation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Quadratic Penalty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r>
                        <a:rPr lang="en" sz="1200"/>
                        <a:t> + r h</a:t>
                      </a:r>
                      <a:r>
                        <a:rPr baseline="30000" lang="en" sz="1200"/>
                        <a:t>2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Smooth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Needs large 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Smooth punishment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Exact Penalty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r>
                        <a:rPr lang="en" sz="1200"/>
                        <a:t> + </a:t>
                      </a:r>
                      <a:r>
                        <a:rPr lang="en" sz="1200"/>
                        <a:t>r 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Sharp strict punishment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94" name="Google Shape;3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400" y="3032943"/>
            <a:ext cx="3973650" cy="1952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25" y="3032950"/>
            <a:ext cx="3081325" cy="19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9"/>
          <p:cNvSpPr txBox="1"/>
          <p:nvPr>
            <p:ph idx="1" type="body"/>
          </p:nvPr>
        </p:nvSpPr>
        <p:spPr>
          <a:xfrm>
            <a:off x="47450" y="39200"/>
            <a:ext cx="90429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Numerical Solution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1)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Lagrange Multiplier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-:  Minimize : 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 : x+y = 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Solution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Lagrangian : L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λ (x+y−4)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Partial derivatives : ∂L/∂x ​= 2x+λ = 0 , ∂L/∂y ​= 2y+λ = 0 , x+y = 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Solve : From first two : 2x =2y ⇒x =y , Substitute: x+x = 4⇒ x =2 &amp; y=2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 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(2 ,2)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2) Quadratic Penalty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Problem -: Minimize : f(x) = 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, Subject to : x−2 = 0 , Using quadratic penalty with r = 10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Solution :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Penalty function : F(x) = 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+ 10 (x−2)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Step 1: Expand :  F(x) = 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+ 10 (x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− 4x + 4) , F(x) = 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+ 10 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− 40x + 40 , F(x) = 11x</a:t>
            </a:r>
            <a:r>
              <a:rPr baseline="30000" lang="en" sz="1200">
                <a:solidFill>
                  <a:schemeClr val="dk1"/>
                </a:solidFill>
                <a:highlight>
                  <a:srgbClr val="FFFFFF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− 40x + 40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Step 2: Differentiate :  dF/dx ​= 22x − 40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Step 3: Set zero : 22 x = 40 , x = 40/22 ​= 1.818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: x ≈ 1.818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0"/>
          <p:cNvSpPr txBox="1"/>
          <p:nvPr>
            <p:ph idx="1" type="body"/>
          </p:nvPr>
        </p:nvSpPr>
        <p:spPr>
          <a:xfrm>
            <a:off x="56725" y="-53650"/>
            <a:ext cx="90429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3)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Exact Penalty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 Minimize : f(x) = x</a:t>
            </a:r>
            <a:r>
              <a:rPr baseline="30000" lang="en" sz="1200">
                <a:solidFill>
                  <a:schemeClr val="dk1"/>
                </a:solidFill>
              </a:rPr>
              <a:t>2  </a:t>
            </a:r>
            <a:r>
              <a:rPr lang="en" sz="1200">
                <a:solidFill>
                  <a:schemeClr val="dk1"/>
                </a:solidFill>
              </a:rPr>
              <a:t> , Subject to : x−2 = 0 , Using exact penalty with r = 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Solution :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Penalty function: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+ 5 ∣x−2∣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1: x ≥ 2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+ 5(x−2)  , F′(x) = 2x + 5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Set zero : 2x + 5 = 0 ⇒x = −2.5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Not valid (x ≥ 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2: x </a:t>
            </a:r>
            <a:r>
              <a:rPr lang="en" sz="1200">
                <a:solidFill>
                  <a:schemeClr val="dk1"/>
                </a:solidFill>
              </a:rPr>
              <a:t>&lt;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+ 5(2-x) , F′(x) = 2x - 5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Set zero : 2x - 5 = 0 ⇒x = 2.5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Not valid (x &lt; 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Check boundary : x 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1"/>
          <p:cNvSpPr txBox="1"/>
          <p:nvPr>
            <p:ph idx="1" type="body"/>
          </p:nvPr>
        </p:nvSpPr>
        <p:spPr>
          <a:xfrm>
            <a:off x="38175" y="39200"/>
            <a:ext cx="9052200" cy="50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4)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Penalty Method (Inequality Constraint)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 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x−1 ≤ 0 , Using penalty 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r . max(0,x−1)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Solution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1: x ≤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Minimum at : x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Check feasibility : 0 ≤ 1 ⇒ valid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Case 2: x &gt;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Penalty added → higher value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0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2"/>
          <p:cNvSpPr txBox="1"/>
          <p:nvPr>
            <p:ph idx="1" type="body"/>
          </p:nvPr>
        </p:nvSpPr>
        <p:spPr>
          <a:xfrm>
            <a:off x="47450" y="39200"/>
            <a:ext cx="9042900" cy="50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Practise Problem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1) Lagrange Multiplier Method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Q1 </a:t>
            </a:r>
            <a:r>
              <a:rPr lang="en" sz="1200">
                <a:solidFill>
                  <a:schemeClr val="dk1"/>
                </a:solidFill>
              </a:rPr>
              <a:t>Minimize: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xy ,  Subject to: x+y = 3 , Find optimal x, y using Lagrange method.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Q2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+ 4y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  , </a:t>
            </a:r>
            <a:r>
              <a:rPr lang="en" sz="1200">
                <a:solidFill>
                  <a:schemeClr val="dk1"/>
                </a:solidFill>
              </a:rPr>
              <a:t>Subject to: 2x+y= 5  , Solve completely.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Q3 </a:t>
            </a:r>
            <a:r>
              <a:rPr lang="en" sz="1200">
                <a:solidFill>
                  <a:schemeClr val="dk1"/>
                </a:solidFill>
              </a:rPr>
              <a:t>Minimize: f(x,y,z)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z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 +y +z = 6  , Find optimal values.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Q4 (Conceptual) </a:t>
            </a:r>
            <a:r>
              <a:rPr lang="en" sz="1200">
                <a:solidFill>
                  <a:schemeClr val="dk1"/>
                </a:solidFill>
              </a:rPr>
              <a:t>Show that at optimum: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</a:t>
            </a:r>
            <a:r>
              <a:rPr lang="en" sz="1200">
                <a:solidFill>
                  <a:schemeClr val="dk1"/>
                </a:solidFill>
              </a:rPr>
              <a:t>f = −λ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</a:t>
            </a:r>
            <a:r>
              <a:rPr lang="en" sz="1200">
                <a:solidFill>
                  <a:schemeClr val="dk1"/>
                </a:solidFill>
              </a:rPr>
              <a:t>h  , Explain geometrically.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Q5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−4x −6y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Subject to: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= 5 , Solve using Lagrange multipliers.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Q6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f(x,y) =xy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Subject to: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=10 , Find minimum and maximum values.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6"/>
                </a:highlight>
              </a:rPr>
              <a:t>2) Quadratic Penalty Method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Q7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Subject to: x−3 = 0 , Use quadratic penalty with r = 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Q8 </a:t>
            </a:r>
            <a:r>
              <a:rPr lang="en" sz="1200">
                <a:solidFill>
                  <a:schemeClr val="dk1"/>
                </a:solidFill>
              </a:rPr>
              <a:t>Minimize: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 + y =2 , Write penalty function and find approximate solution for r= 10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Q9 </a:t>
            </a:r>
            <a:r>
              <a:rPr lang="en" sz="1200">
                <a:solidFill>
                  <a:schemeClr val="dk1"/>
                </a:solidFill>
              </a:rPr>
              <a:t>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−2x   , Subject to: x−1 =0  , Solve using penalty method.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Q10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Subject to: x +2y −4 =0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 Solve using quadratic penalty with r = 50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Q11 </a:t>
            </a:r>
            <a:r>
              <a:rPr lang="en" sz="1200">
                <a:solidFill>
                  <a:schemeClr val="dk1"/>
                </a:solidFill>
              </a:rPr>
              <a:t>Minimize: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Subject to: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−1 = 0 </a:t>
            </a:r>
            <a:r>
              <a:rPr b="1" lang="en" sz="1200">
                <a:solidFill>
                  <a:schemeClr val="dk1"/>
                </a:solidFill>
              </a:rPr>
              <a:t> , </a:t>
            </a:r>
            <a:r>
              <a:rPr lang="en" sz="1200">
                <a:solidFill>
                  <a:schemeClr val="dk1"/>
                </a:solidFill>
              </a:rPr>
              <a:t>Form penalty function and derive equations.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3"/>
          <p:cNvSpPr txBox="1"/>
          <p:nvPr>
            <p:ph idx="1" type="body"/>
          </p:nvPr>
        </p:nvSpPr>
        <p:spPr>
          <a:xfrm>
            <a:off x="56725" y="39200"/>
            <a:ext cx="9042900" cy="5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3)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Exact Penalty Method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Q12 </a:t>
            </a:r>
            <a:r>
              <a:rPr lang="en" sz="1100">
                <a:solidFill>
                  <a:schemeClr val="dk1"/>
                </a:solidFill>
              </a:rPr>
              <a:t>Minimize: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f(x)= x</a:t>
            </a:r>
            <a:r>
              <a:rPr baseline="30000" lang="en" sz="1100">
                <a:solidFill>
                  <a:schemeClr val="dk1"/>
                </a:solidFill>
              </a:rPr>
              <a:t>2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 x−2 = 0 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Use exact penalty with r = 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Q13 </a:t>
            </a:r>
            <a:r>
              <a:rPr lang="en" sz="1100">
                <a:solidFill>
                  <a:schemeClr val="dk1"/>
                </a:solidFill>
              </a:rPr>
              <a:t>Minimize: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f(x)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− 4x 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 x−1 = 0 , Solve using exact penalty.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Q14 </a:t>
            </a:r>
            <a:r>
              <a:rPr lang="en" sz="1100">
                <a:solidFill>
                  <a:schemeClr val="dk1"/>
                </a:solidFill>
              </a:rPr>
              <a:t>Minimize: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f(x,y)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 y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 x +y −3 = 0 , Solve using exact penalty (case-wise analysis).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Q15 </a:t>
            </a:r>
            <a:r>
              <a:rPr lang="en" sz="1100">
                <a:solidFill>
                  <a:schemeClr val="dk1"/>
                </a:solidFill>
              </a:rPr>
              <a:t>Minimize: f(x)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 x ≥ 2 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Use exact penalty: F(x)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+r . max(0,2−x)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Solve for r = 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4)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Penalty Method (Inequality Constraint)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Q16 </a:t>
            </a:r>
            <a:r>
              <a:rPr lang="en" sz="1100">
                <a:solidFill>
                  <a:schemeClr val="dk1"/>
                </a:solidFill>
              </a:rPr>
              <a:t>Minimize: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f(x,y)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 y</a:t>
            </a:r>
            <a:r>
              <a:rPr baseline="30000" lang="en" sz="1100">
                <a:solidFill>
                  <a:schemeClr val="dk1"/>
                </a:solidFill>
              </a:rPr>
              <a:t>2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x+y ≤ 2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Use penalty function: F(x,y) = x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 y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+r . max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</a:rPr>
              <a:t>(0, x+y−2)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endParaRPr baseline="30000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Q17 </a:t>
            </a:r>
            <a:r>
              <a:rPr lang="en" sz="1100">
                <a:solidFill>
                  <a:schemeClr val="dk1"/>
                </a:solidFill>
              </a:rPr>
              <a:t>Minimize: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f(x,y) = (x−1)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+ (y−2)</a:t>
            </a:r>
            <a:r>
              <a:rPr baseline="30000" lang="en" sz="1100">
                <a:solidFill>
                  <a:schemeClr val="dk1"/>
                </a:solidFill>
              </a:rPr>
              <a:t>2</a:t>
            </a:r>
            <a:r>
              <a:rPr b="1" lang="en" sz="1100">
                <a:solidFill>
                  <a:schemeClr val="dk1"/>
                </a:solidFill>
              </a:rPr>
              <a:t> , </a:t>
            </a:r>
            <a:r>
              <a:rPr lang="en" sz="1100">
                <a:solidFill>
                  <a:schemeClr val="dk1"/>
                </a:solidFill>
              </a:rPr>
              <a:t>Subject to: x+y = 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Compare: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Lagrange solution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Penalty solution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Week 12’s topics </a:t>
            </a:r>
            <a:endParaRPr/>
          </a:p>
        </p:txBody>
      </p:sp>
      <p:sp>
        <p:nvSpPr>
          <p:cNvPr id="426" name="Google Shape;426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Barrier function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Barrier function vs penalty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Convergence result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5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Barrier Function </a:t>
            </a:r>
            <a:endParaRPr b="1"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Equation (Inequality Constraints) : min f(x)  subject to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(x) 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Idea : </a:t>
            </a:r>
            <a:r>
              <a:rPr lang="en" sz="1200">
                <a:solidFill>
                  <a:schemeClr val="dk1"/>
                </a:solidFill>
              </a:rPr>
              <a:t>Instead of penalizing violations, we </a:t>
            </a:r>
            <a:r>
              <a:rPr b="1" lang="en" sz="1200">
                <a:solidFill>
                  <a:schemeClr val="dk1"/>
                </a:solidFill>
              </a:rPr>
              <a:t>prevent entering infeasible region</a:t>
            </a:r>
            <a:r>
              <a:rPr lang="en" sz="1200">
                <a:solidFill>
                  <a:schemeClr val="dk1"/>
                </a:solidFill>
              </a:rPr>
              <a:t> by adding a barrier that becomes infinite near the 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b</a:t>
            </a:r>
            <a:r>
              <a:rPr lang="en" sz="1200">
                <a:solidFill>
                  <a:schemeClr val="dk1"/>
                </a:solidFill>
              </a:rPr>
              <a:t>oundary.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Barrier Function Form : F(x,μ) = f(x) + μ B(x) 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Where: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Final Form 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Property : </a:t>
            </a:r>
            <a:r>
              <a:rPr lang="en" sz="1200">
                <a:solidFill>
                  <a:schemeClr val="dk1"/>
                </a:solidFill>
              </a:rPr>
              <a:t>Defined only for:  g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(x) &lt; 0  , As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(x) → 0 :  , Ln (−g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(x)) → − ∞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lang="en" sz="1200">
                <a:solidFill>
                  <a:schemeClr val="dk1"/>
                </a:solidFill>
              </a:rPr>
              <a:t>F(x) → ∞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Conclusion :  </a:t>
            </a:r>
            <a:r>
              <a:rPr lang="en" sz="1200">
                <a:solidFill>
                  <a:schemeClr val="dk1"/>
                </a:solidFill>
              </a:rPr>
              <a:t>i) You are inside feasible region ,  ii) Boundary acts like a </a:t>
            </a:r>
            <a:r>
              <a:rPr b="1" lang="en" sz="1200">
                <a:solidFill>
                  <a:schemeClr val="dk1"/>
                </a:solidFill>
              </a:rPr>
              <a:t>wall , </a:t>
            </a:r>
            <a:r>
              <a:rPr lang="en" sz="1200">
                <a:solidFill>
                  <a:schemeClr val="dk1"/>
                </a:solidFill>
              </a:rPr>
              <a:t>iii) You cannot cross it.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 : Safe driving within road lanes ( </a:t>
            </a:r>
            <a:r>
              <a:rPr lang="en" sz="1200">
                <a:solidFill>
                  <a:schemeClr val="dk1"/>
                </a:solidFill>
              </a:rPr>
              <a:t>Road boundaries → constraints , Barrier → prevents crossing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b="1" lang="en" sz="12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Used in - ( Interior-point methods , Constrained optimization in ML , Training models with strict constraints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Barrier Function vs Penalty Function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Penalty Function Equation : </a:t>
            </a:r>
            <a:r>
              <a:rPr lang="en" sz="1200">
                <a:solidFill>
                  <a:schemeClr val="dk1"/>
                </a:solidFill>
              </a:rPr>
              <a:t>F(x,r) = f(x) + r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⋅ </a:t>
            </a:r>
            <a:r>
              <a:rPr lang="en" sz="1200">
                <a:solidFill>
                  <a:schemeClr val="dk1"/>
                </a:solidFill>
              </a:rPr>
              <a:t>P(x)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a) Allows infeasible points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b) Penalizes violations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32" name="Google Shape;43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775" y="1374525"/>
            <a:ext cx="1534900" cy="4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80" y="1852275"/>
            <a:ext cx="2124500" cy="4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6"/>
          <p:cNvSpPr txBox="1"/>
          <p:nvPr>
            <p:ph idx="1" type="body"/>
          </p:nvPr>
        </p:nvSpPr>
        <p:spPr>
          <a:xfrm>
            <a:off x="0" y="53075"/>
            <a:ext cx="9144000" cy="50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Barrier Function</a:t>
            </a:r>
            <a:r>
              <a:rPr lang="en" sz="1200">
                <a:solidFill>
                  <a:schemeClr val="dk1"/>
                </a:solidFill>
              </a:rPr>
              <a:t> 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       a)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Does NOT allow infeasible region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b)  Keeps solution strictly inside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     i) </a:t>
            </a:r>
            <a:r>
              <a:rPr lang="en" sz="1200">
                <a:solidFill>
                  <a:schemeClr val="dk1"/>
                </a:solidFill>
              </a:rPr>
              <a:t>Barrier (inside only)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                              ii) Penalty (outside allowed but punished)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Comparison Table 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Conclusion </a:t>
            </a:r>
            <a:r>
              <a:rPr lang="en" sz="1200">
                <a:solidFill>
                  <a:schemeClr val="dk1"/>
                </a:solidFill>
              </a:rPr>
              <a:t>: a) </a:t>
            </a:r>
            <a:r>
              <a:rPr b="1" lang="en" sz="1200">
                <a:solidFill>
                  <a:schemeClr val="dk1"/>
                </a:solidFill>
              </a:rPr>
              <a:t>Barrier</a:t>
            </a:r>
            <a:r>
              <a:rPr lang="en" sz="1200">
                <a:solidFill>
                  <a:schemeClr val="dk1"/>
                </a:solidFill>
              </a:rPr>
              <a:t> → “Don’t cross the boundary” b) </a:t>
            </a:r>
            <a:r>
              <a:rPr b="1" lang="en" sz="1200">
                <a:solidFill>
                  <a:schemeClr val="dk1"/>
                </a:solidFill>
              </a:rPr>
              <a:t>Penalty</a:t>
            </a:r>
            <a:r>
              <a:rPr lang="en" sz="1200">
                <a:solidFill>
                  <a:schemeClr val="dk1"/>
                </a:solidFill>
              </a:rPr>
              <a:t> → “You can cross, but pay a cost”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 : </a:t>
            </a:r>
            <a:r>
              <a:rPr lang="en" sz="1200">
                <a:solidFill>
                  <a:schemeClr val="dk1"/>
                </a:solidFill>
              </a:rPr>
              <a:t>Barrier ( Security system blocks entry ) , Penalty ( Fine for breaking rules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Barrier → strict constraints (robotics, safety ML) , Penalty → soft constraints (regularization)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39" name="Google Shape;4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30" y="2250"/>
            <a:ext cx="2124500" cy="4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3700" y="53075"/>
            <a:ext cx="3440300" cy="2175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1" name="Google Shape;441;p76"/>
          <p:cNvGraphicFramePr/>
          <p:nvPr/>
        </p:nvGraphicFramePr>
        <p:xfrm>
          <a:off x="159650" y="21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2352950"/>
                <a:gridCol w="2352950"/>
                <a:gridCol w="2573775"/>
              </a:tblGrid>
              <a:tr h="382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Feature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Barrier Function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Penalty Function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3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Feasible region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Inside only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Inside + outside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Constraint violation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allowed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Allowed (penalized)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Parameter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μ→0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r→ ∞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Behavior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Pushes away from boundary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Pushes toward feasible region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7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Convergence Results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Barrier Method Convergence </a:t>
            </a:r>
            <a:r>
              <a:rPr lang="en" sz="1200">
                <a:solidFill>
                  <a:schemeClr val="dk1"/>
                </a:solidFill>
              </a:rPr>
              <a:t> : We solve sequence :                                                                                   , with  μ→0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Result : </a:t>
            </a:r>
            <a:r>
              <a:rPr lang="en" sz="1200">
                <a:solidFill>
                  <a:schemeClr val="dk1"/>
                </a:solidFill>
              </a:rPr>
              <a:t>x(μ)→x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 , where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is optimal solution.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Central Path: </a:t>
            </a:r>
            <a:r>
              <a:rPr lang="en" sz="1200">
                <a:solidFill>
                  <a:schemeClr val="dk1"/>
                </a:solidFill>
              </a:rPr>
              <a:t>Sequence of solutions forms: { x (μ) } , called </a:t>
            </a:r>
            <a:r>
              <a:rPr b="1" lang="en" sz="1200">
                <a:solidFill>
                  <a:schemeClr val="dk1"/>
                </a:solidFill>
              </a:rPr>
              <a:t>central path.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FF"/>
                </a:highlight>
              </a:rPr>
              <a:t>Penalty Method Convergence</a:t>
            </a:r>
            <a:r>
              <a:rPr b="1" lang="en" sz="1200">
                <a:solidFill>
                  <a:schemeClr val="dk1"/>
                </a:solidFill>
              </a:rPr>
              <a:t> : F(x,r) = f(x) + r . P(x)</a:t>
            </a:r>
            <a:r>
              <a:rPr lang="en" sz="1200">
                <a:solidFill>
                  <a:schemeClr val="dk1"/>
                </a:solidFill>
              </a:rPr>
              <a:t> , with: </a:t>
            </a:r>
            <a:r>
              <a:rPr b="1" lang="en" sz="1200">
                <a:solidFill>
                  <a:schemeClr val="dk1"/>
                </a:solidFill>
              </a:rPr>
              <a:t>r→∞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Result : </a:t>
            </a:r>
            <a:r>
              <a:rPr lang="en" sz="1200">
                <a:solidFill>
                  <a:schemeClr val="dk1"/>
                </a:solidFill>
              </a:rPr>
              <a:t>x(r) → x</a:t>
            </a:r>
            <a:r>
              <a:rPr baseline="30000" lang="en" sz="1200">
                <a:solidFill>
                  <a:schemeClr val="dk1"/>
                </a:solidFill>
              </a:rPr>
              <a:t>∗ 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Penalty : Ill-conditioned for large r  (push from outside ) ; Barrier : Requires feasible start  (guide from inside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Example: Barrier - </a:t>
            </a:r>
            <a:r>
              <a:rPr lang="en" sz="1200">
                <a:solidFill>
                  <a:schemeClr val="dk1"/>
                </a:solidFill>
              </a:rPr>
              <a:t>Walking inside room toward door ( Stay inside , Gradually approach boundary)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                                 Penalty - </a:t>
            </a:r>
            <a:r>
              <a:rPr lang="en" sz="1200">
                <a:solidFill>
                  <a:schemeClr val="dk1"/>
                </a:solidFill>
              </a:rPr>
              <a:t>WE start outside ( Pay penalty , Move toward allowed region)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b="1" lang="en" sz="12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Used in [ Interior point methods (large-scale optimization), Training constrained models ,Reinforcement learning  constraints]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47" name="Google Shape;44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325" y="160800"/>
            <a:ext cx="3289750" cy="451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8" name="Google Shape;448;p77"/>
          <p:cNvGraphicFramePr/>
          <p:nvPr/>
        </p:nvGraphicFramePr>
        <p:xfrm>
          <a:off x="586150" y="33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954250"/>
                <a:gridCol w="1653025"/>
                <a:gridCol w="1579750"/>
                <a:gridCol w="2629975"/>
              </a:tblGrid>
              <a:tr h="38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Concept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Formula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Idea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Meaning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7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Barrier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 − μ ∑ ln (−g)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Stay inside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Invisible</a:t>
                      </a:r>
                      <a:r>
                        <a:rPr lang="en" sz="1200"/>
                        <a:t> wall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Penalty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f + r P(x)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Penalize violation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Fine for Violation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Convergence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μ → 0</a:t>
                      </a:r>
                      <a:r>
                        <a:rPr lang="en" sz="1200"/>
                        <a:t> ,  r→∞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Reach optimum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Gradual Movement to Optimum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8"/>
          <p:cNvSpPr txBox="1"/>
          <p:nvPr>
            <p:ph idx="1" type="body"/>
          </p:nvPr>
        </p:nvSpPr>
        <p:spPr>
          <a:xfrm>
            <a:off x="-125" y="-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Numerical</a:t>
            </a: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 Method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Barrier Function (Log Barrier)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 : </a:t>
            </a:r>
            <a:r>
              <a:rPr lang="en" sz="1200">
                <a:solidFill>
                  <a:schemeClr val="dk1"/>
                </a:solidFill>
              </a:rPr>
              <a:t>Minimize: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 −1 ≤ 0 , Using barrier function with μ 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 :</a:t>
            </a:r>
            <a:endParaRPr b="1"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Step 1: Constraint form : </a:t>
            </a:r>
            <a:r>
              <a:rPr lang="en" sz="1200">
                <a:solidFill>
                  <a:schemeClr val="dk1"/>
                </a:solidFill>
              </a:rPr>
              <a:t>g (x) = x−1 ≤ 0 , - </a:t>
            </a:r>
            <a:r>
              <a:rPr lang="en" sz="1200">
                <a:solidFill>
                  <a:schemeClr val="dk1"/>
                </a:solidFill>
              </a:rPr>
              <a:t>g (x) = 1 - x &gt; 0 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Step 2: Barrier function : </a:t>
            </a:r>
            <a:r>
              <a:rPr lang="en" sz="1200">
                <a:solidFill>
                  <a:schemeClr val="dk1"/>
                </a:solidFill>
              </a:rPr>
              <a:t>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 ln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(1−x)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Step 3: Differentiate : </a:t>
            </a:r>
            <a:r>
              <a:rPr lang="en" sz="1200">
                <a:solidFill>
                  <a:schemeClr val="dk1"/>
                </a:solidFill>
              </a:rPr>
              <a:t>dF/dx = 2x + 1/(1−x) ​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Step 4: Set to zero : </a:t>
            </a:r>
            <a:r>
              <a:rPr lang="en" sz="1200">
                <a:solidFill>
                  <a:schemeClr val="dk1"/>
                </a:solidFill>
              </a:rPr>
              <a:t>2x + 1/(1−x) = 0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Multiply: 2x . (1−x) + 1= 0 , 2x − 2x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+ 1= 0 , 2x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− 2x− 1 = 0 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Step 5: Solve : </a:t>
            </a:r>
            <a:r>
              <a:rPr lang="en" sz="1200">
                <a:solidFill>
                  <a:schemeClr val="dk1"/>
                </a:solidFill>
              </a:rPr>
              <a:t>x = ( 2 ± sqrt (4+8) ) / 4 , </a:t>
            </a:r>
            <a:r>
              <a:rPr lang="en" sz="1200">
                <a:solidFill>
                  <a:schemeClr val="dk1"/>
                </a:solidFill>
              </a:rPr>
              <a:t>x = ( 2 ± 3.464 ) / 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Feasible solution: x ≈ − 0.366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Answer:  </a:t>
            </a: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x ≈ −0.366</a:t>
            </a:r>
            <a:endParaRPr sz="12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Barrier Function (Different μ)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Problem: </a:t>
            </a:r>
            <a:r>
              <a:rPr lang="en" sz="1200">
                <a:solidFill>
                  <a:schemeClr val="dk1"/>
                </a:solidFill>
              </a:rPr>
              <a:t>Same problem with: μ=0.1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 : </a:t>
            </a:r>
            <a:endParaRPr b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Barrier function: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− 0.1 ln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(1−x) 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9"/>
          <p:cNvSpPr txBox="1"/>
          <p:nvPr>
            <p:ph idx="1" type="body"/>
          </p:nvPr>
        </p:nvSpPr>
        <p:spPr>
          <a:xfrm>
            <a:off x="0" y="0"/>
            <a:ext cx="9101700" cy="51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Derivative: 2x + 0.1 / (1−x) = 0 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Multiply: 2x . (1−x) + 0.1 = 0 , 2x− 2x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+ 0.1 = 0 , 2x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− 2x −0.1 = 0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Solve: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 = </a:t>
            </a:r>
            <a:r>
              <a:rPr lang="en" sz="1200">
                <a:solidFill>
                  <a:schemeClr val="dk1"/>
                </a:solidFill>
              </a:rPr>
              <a:t>( 2 ± sqrt (4 + 0.8) ) / 4  , x = ( 2 ± sqrt 4.8 ) / 4 , x ≈ − 0.049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 </a:t>
            </a:r>
            <a:r>
              <a:rPr b="1"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x ≈ − 0.049 ( Closer to true solution x = 0 )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Penalty Method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 : </a:t>
            </a:r>
            <a:r>
              <a:rPr lang="en" sz="1200">
                <a:solidFill>
                  <a:schemeClr val="dk1"/>
                </a:solidFill>
              </a:rPr>
              <a:t>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 : x −1 ≤ 0 , Using penalty: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r . max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(0, x−1)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</a:t>
            </a:r>
            <a:endParaRPr b="1"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Case 1: x ≤ 1</a:t>
            </a:r>
            <a:endParaRPr b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F(x)=x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Minimum : x = 0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Case 2: x &gt; 1</a:t>
            </a:r>
            <a:endParaRPr b="1" sz="12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Penalty increases value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</a:rPr>
              <a:t>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0"/>
          <p:cNvSpPr txBox="1"/>
          <p:nvPr>
            <p:ph idx="1" type="body"/>
          </p:nvPr>
        </p:nvSpPr>
        <p:spPr>
          <a:xfrm>
            <a:off x="0" y="0"/>
            <a:ext cx="9093600" cy="51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Barrier vs Penalty (Comparison Problem)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Problem: </a:t>
            </a:r>
            <a:r>
              <a:rPr lang="en" sz="1200">
                <a:solidFill>
                  <a:schemeClr val="dk1"/>
                </a:solidFill>
              </a:rPr>
              <a:t>Minimize: f(x) = (x−2)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 : x ≤ 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Solution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Barrier Method: </a:t>
            </a:r>
            <a:r>
              <a:rPr lang="en" sz="1200">
                <a:solidFill>
                  <a:schemeClr val="dk1"/>
                </a:solidFill>
              </a:rPr>
              <a:t>F(x) = (x−2)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− μ . ln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(1−x) </a:t>
            </a:r>
            <a:endParaRPr sz="12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Solution stays strictly: x &lt;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Penalty Method:  </a:t>
            </a:r>
            <a:r>
              <a:rPr lang="en" sz="1200">
                <a:solidFill>
                  <a:schemeClr val="dk1"/>
                </a:solidFill>
              </a:rPr>
              <a:t>F(x) = (x−2)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r . max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(0, x−1)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</a:t>
            </a:r>
            <a:endParaRPr sz="12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Solution may approach boundary from outside.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Conclusion </a:t>
            </a:r>
            <a:r>
              <a:rPr b="1" lang="en" sz="1200">
                <a:solidFill>
                  <a:schemeClr val="dk1"/>
                </a:solidFill>
              </a:rPr>
              <a:t>: (</a:t>
            </a:r>
            <a:r>
              <a:rPr lang="en" sz="1200">
                <a:solidFill>
                  <a:schemeClr val="dk1"/>
                </a:solidFill>
              </a:rPr>
              <a:t>Barrier → inside approach , Penalty → outside correction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</a:rPr>
              <a:t>Convergence (Barrier Method)</a:t>
            </a:r>
            <a:endParaRPr b="1"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Problem: </a:t>
            </a:r>
            <a:r>
              <a:rPr lang="en" sz="1200">
                <a:solidFill>
                  <a:schemeClr val="dk1"/>
                </a:solidFill>
              </a:rPr>
              <a:t>Given sequence:: μ=1,0.1,0.01 , Solutions: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= −0.36 ,x</a:t>
            </a:r>
            <a:r>
              <a:rPr baseline="-25000" lang="en" sz="1200">
                <a:solidFill>
                  <a:schemeClr val="dk1"/>
                </a:solidFill>
              </a:rPr>
              <a:t>2  </a:t>
            </a:r>
            <a:r>
              <a:rPr lang="en" sz="1200">
                <a:solidFill>
                  <a:schemeClr val="dk1"/>
                </a:solidFill>
              </a:rPr>
              <a:t>= −0.049 , x</a:t>
            </a:r>
            <a:r>
              <a:rPr baseline="-25000" lang="en" sz="1200">
                <a:solidFill>
                  <a:schemeClr val="dk1"/>
                </a:solidFill>
              </a:rPr>
              <a:t>3 </a:t>
            </a:r>
            <a:r>
              <a:rPr lang="en" sz="1200">
                <a:solidFill>
                  <a:schemeClr val="dk1"/>
                </a:solidFill>
              </a:rPr>
              <a:t>→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 </a:t>
            </a:r>
            <a:r>
              <a:rPr lang="en" sz="1200">
                <a:solidFill>
                  <a:schemeClr val="dk1"/>
                </a:solidFill>
              </a:rPr>
              <a:t>As: μ → 0 , x(μ) →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b="1" lang="en" sz="1200">
                <a:solidFill>
                  <a:schemeClr val="dk1"/>
                </a:solidFill>
              </a:rPr>
              <a:t>:  </a:t>
            </a:r>
            <a:r>
              <a:rPr lang="en" sz="1200">
                <a:solidFill>
                  <a:schemeClr val="dk1"/>
                </a:solidFill>
              </a:rPr>
              <a:t>Converges to true minimum :  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</a:rPr>
              <a:t>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</a:rPr>
              <a:t>Convergence (Penalty Method)</a:t>
            </a:r>
            <a:endParaRPr b="1"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Problem: </a:t>
            </a:r>
            <a:r>
              <a:rPr lang="en" sz="1200">
                <a:solidFill>
                  <a:schemeClr val="dk1"/>
                </a:solidFill>
              </a:rPr>
              <a:t>Given: r = 1,10,100  , Solutions: x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 =1.5, x</a:t>
            </a:r>
            <a:r>
              <a:rPr baseline="-25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= 1.1, x</a:t>
            </a:r>
            <a:r>
              <a:rPr baseline="-25000"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</a:rPr>
              <a:t> →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Solution: </a:t>
            </a:r>
            <a:r>
              <a:rPr lang="en" sz="1200">
                <a:solidFill>
                  <a:schemeClr val="dk1"/>
                </a:solidFill>
              </a:rPr>
              <a:t>As: r →∞ ,  x(r) → 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b="1"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Converges to boundary solution.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1"/>
          <p:cNvSpPr txBox="1"/>
          <p:nvPr>
            <p:ph idx="1" type="body"/>
          </p:nvPr>
        </p:nvSpPr>
        <p:spPr>
          <a:xfrm>
            <a:off x="0" y="40700"/>
            <a:ext cx="9101700" cy="51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Practise Problem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Barrier Function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endParaRPr sz="1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1) 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 : x−2 ≤ 0 , Form the </a:t>
            </a:r>
            <a:r>
              <a:rPr b="1" lang="en" sz="1200">
                <a:solidFill>
                  <a:schemeClr val="dk1"/>
                </a:solidFill>
              </a:rPr>
              <a:t>log barrier function</a:t>
            </a:r>
            <a:r>
              <a:rPr lang="en" sz="1200">
                <a:solidFill>
                  <a:schemeClr val="dk1"/>
                </a:solidFill>
              </a:rPr>
              <a:t> and find the stationary point for: μ=1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2) </a:t>
            </a:r>
            <a:r>
              <a:rPr lang="en" sz="1200">
                <a:solidFill>
                  <a:schemeClr val="dk1"/>
                </a:solidFill>
              </a:rPr>
              <a:t>Minimize: f(x) = (x−1)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, Subject to: x ≤ 0 , Use barrier function and solve for: μ = 0.5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3) </a:t>
            </a:r>
            <a:r>
              <a:rPr lang="en" sz="1200">
                <a:solidFill>
                  <a:schemeClr val="dk1"/>
                </a:solidFill>
              </a:rPr>
              <a:t>Minimize: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to: x + y −1 ≤ 0 , Form barrier function and write first-order conditions.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4) </a:t>
            </a:r>
            <a:r>
              <a:rPr lang="en" sz="1200">
                <a:solidFill>
                  <a:schemeClr val="dk1"/>
                </a:solidFill>
              </a:rPr>
              <a:t>Show that barrier function is defined only when: g(x) &lt; 0,  Explain mathematically.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Barrier Function (Hard)</a:t>
            </a:r>
            <a:endParaRPr b="1" sz="1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5) </a:t>
            </a:r>
            <a:r>
              <a:rPr lang="en" sz="1200">
                <a:solidFill>
                  <a:schemeClr val="dk1"/>
                </a:solidFill>
              </a:rPr>
              <a:t>Minimize: f(x,y)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, Subject to: x + y − 2 ≤ 0 , Use barrier function: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 μ . ln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(2 −x −y)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Find stationary equations and solve for μ = 0.1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6) </a:t>
            </a:r>
            <a:r>
              <a:rPr lang="en" sz="1200">
                <a:solidFill>
                  <a:schemeClr val="dk1"/>
                </a:solidFill>
              </a:rPr>
              <a:t>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− 2x , Subject to: x ≤ 1 , Solve using barrier function for:  μ = 1, 0.1, 0.01 , Analyze how solution changes.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Penalty vs Barrier (Medium)</a:t>
            </a:r>
            <a:endParaRPr b="1" sz="12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7) </a:t>
            </a:r>
            <a:r>
              <a:rPr lang="en" sz="1200">
                <a:solidFill>
                  <a:schemeClr val="dk1"/>
                </a:solidFill>
              </a:rPr>
              <a:t>Minimize: f(x) = (x−3)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to: x ≤ 2 , Write: i) Penalty function ii)Barrier function . Compare both formulations.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8) </a:t>
            </a:r>
            <a:r>
              <a:rPr lang="en" sz="1200">
                <a:solidFill>
                  <a:schemeClr val="dk1"/>
                </a:solidFill>
              </a:rPr>
              <a:t>Explain difference between barrier and penalty methods for: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Subject to: x ≤ 1 , Show mathematical expressions.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9)</a:t>
            </a:r>
            <a:r>
              <a:rPr lang="en" sz="1200">
                <a:solidFill>
                  <a:schemeClr val="dk1"/>
                </a:solidFill>
              </a:rPr>
              <a:t>True or False (justify): Barrier method can start from infeasible point.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10) </a:t>
            </a:r>
            <a:r>
              <a:rPr lang="en" sz="1200">
                <a:solidFill>
                  <a:schemeClr val="dk1"/>
                </a:solidFill>
              </a:rPr>
              <a:t>Minimize: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, Subject to: x + y ≤ 2 ,  Compare: i) Penalty method solution ,ii)Barrier method solution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Explain behavior graphically.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2"/>
          <p:cNvSpPr txBox="1"/>
          <p:nvPr>
            <p:ph idx="1" type="body"/>
          </p:nvPr>
        </p:nvSpPr>
        <p:spPr>
          <a:xfrm>
            <a:off x="0" y="0"/>
            <a:ext cx="91017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Convergence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12)  </a:t>
            </a:r>
            <a:r>
              <a:rPr lang="en" sz="1200">
                <a:solidFill>
                  <a:schemeClr val="dk1"/>
                </a:solidFill>
              </a:rPr>
              <a:t>Given barrier sequence: , μ = 1, 0.1, 0.01 , Explain how solution approaches optimum.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13)  </a:t>
            </a:r>
            <a:r>
              <a:rPr lang="en" sz="1200">
                <a:solidFill>
                  <a:schemeClr val="dk1"/>
                </a:solidFill>
              </a:rPr>
              <a:t>Given penalty sequence: , r = 1, 10, 100 , Explain convergence behavior.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14)  </a:t>
            </a:r>
            <a:r>
              <a:rPr lang="en" sz="1200">
                <a:solidFill>
                  <a:schemeClr val="dk1"/>
                </a:solidFill>
              </a:rPr>
              <a:t>Fill in the blank: , Barrier method converges when: , μ → ____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Convergence (Hard)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15) </a:t>
            </a:r>
            <a:r>
              <a:rPr lang="en" sz="1200">
                <a:solidFill>
                  <a:schemeClr val="dk1"/>
                </a:solidFill>
              </a:rPr>
              <a:t>Prove that for barrier function: F(x,μ) = f(x) − μ . ∑ ln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(−g(x)) , solution converges to optimum as: μ→0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16) </a:t>
            </a:r>
            <a:r>
              <a:rPr lang="en" sz="1200">
                <a:solidFill>
                  <a:schemeClr val="dk1"/>
                </a:solidFill>
              </a:rPr>
              <a:t>Show that penalty method may become ill-conditioned as: r → ∞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17) </a:t>
            </a:r>
            <a:r>
              <a:rPr lang="en" sz="1200">
                <a:solidFill>
                  <a:schemeClr val="dk1"/>
                </a:solidFill>
              </a:rPr>
              <a:t>For function: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to: x ≤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Compare convergence paths for: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Barrier method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Penalty method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 Concept + Theory ( Important)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18) </a:t>
            </a:r>
            <a:r>
              <a:rPr lang="en" sz="1200">
                <a:solidFill>
                  <a:schemeClr val="dk1"/>
                </a:solidFill>
              </a:rPr>
              <a:t>Explain </a:t>
            </a:r>
            <a:r>
              <a:rPr b="1" lang="en" sz="1200">
                <a:solidFill>
                  <a:schemeClr val="dk1"/>
                </a:solidFill>
              </a:rPr>
              <a:t>central path</a:t>
            </a:r>
            <a:r>
              <a:rPr lang="en" sz="1200">
                <a:solidFill>
                  <a:schemeClr val="dk1"/>
                </a:solidFill>
              </a:rPr>
              <a:t> in barrier method.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19) </a:t>
            </a:r>
            <a:r>
              <a:rPr lang="en" sz="1200">
                <a:solidFill>
                  <a:schemeClr val="dk1"/>
                </a:solidFill>
              </a:rPr>
              <a:t>Explain why barrier method requires </a:t>
            </a:r>
            <a:r>
              <a:rPr b="1" lang="en" sz="1200">
                <a:solidFill>
                  <a:schemeClr val="dk1"/>
                </a:solidFill>
              </a:rPr>
              <a:t>feasible starting point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20) </a:t>
            </a:r>
            <a:r>
              <a:rPr lang="en" sz="1200">
                <a:solidFill>
                  <a:schemeClr val="dk1"/>
                </a:solidFill>
              </a:rPr>
              <a:t>Explain geometrically: Barrier vs Penalty behavior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13</a:t>
            </a:r>
            <a:endParaRPr/>
          </a:p>
        </p:txBody>
      </p:sp>
      <p:sp>
        <p:nvSpPr>
          <p:cNvPr id="479" name="Google Shape;47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Compactness, characterisation of solution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Duality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Lagrange Dual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Weak duality and Strong Duality(Slater’s Conditions)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Complementary Slackness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4"/>
          <p:cNvSpPr txBox="1"/>
          <p:nvPr>
            <p:ph idx="1" type="body"/>
          </p:nvPr>
        </p:nvSpPr>
        <p:spPr>
          <a:xfrm>
            <a:off x="0" y="0"/>
            <a:ext cx="9109800" cy="50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Compactness &amp; Characterisation of Solution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Definition  </a:t>
            </a:r>
            <a:r>
              <a:rPr lang="en" sz="1200">
                <a:solidFill>
                  <a:schemeClr val="dk1"/>
                </a:solidFill>
              </a:rPr>
              <a:t>A set S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⊂ </a:t>
            </a:r>
            <a:r>
              <a:rPr lang="en" sz="1200">
                <a:solidFill>
                  <a:schemeClr val="dk1"/>
                </a:solidFill>
              </a:rPr>
              <a:t>R</a:t>
            </a:r>
            <a:r>
              <a:rPr baseline="30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is </a:t>
            </a:r>
            <a:r>
              <a:rPr b="1" lang="en" sz="1200">
                <a:solidFill>
                  <a:schemeClr val="dk1"/>
                </a:solidFill>
              </a:rPr>
              <a:t>compact</a:t>
            </a:r>
            <a:r>
              <a:rPr lang="en" sz="1200">
                <a:solidFill>
                  <a:schemeClr val="dk1"/>
                </a:solidFill>
              </a:rPr>
              <a:t> if: i) It is </a:t>
            </a:r>
            <a:r>
              <a:rPr b="1" lang="en" sz="1200">
                <a:solidFill>
                  <a:schemeClr val="dk1"/>
                </a:solidFill>
              </a:rPr>
              <a:t>closed</a:t>
            </a:r>
            <a:r>
              <a:rPr lang="en" sz="1200">
                <a:solidFill>
                  <a:schemeClr val="dk1"/>
                </a:solidFill>
              </a:rPr>
              <a:t> (contains boundary points) , ii) It is </a:t>
            </a:r>
            <a:r>
              <a:rPr b="1" lang="en" sz="1200">
                <a:solidFill>
                  <a:schemeClr val="dk1"/>
                </a:solidFill>
              </a:rPr>
              <a:t>bounded</a:t>
            </a:r>
            <a:r>
              <a:rPr lang="en" sz="1200">
                <a:solidFill>
                  <a:schemeClr val="dk1"/>
                </a:solidFill>
              </a:rPr>
              <a:t> (finite size)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Importance in Optimization : </a:t>
            </a:r>
            <a:r>
              <a:rPr lang="en" sz="1200">
                <a:solidFill>
                  <a:schemeClr val="dk1"/>
                </a:solidFill>
              </a:rPr>
              <a:t>If : f(x) is continuous , S is compact , Then: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Guarantees existence of optimal solution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Conclusion : </a:t>
            </a:r>
            <a:r>
              <a:rPr lang="en" sz="1200">
                <a:solidFill>
                  <a:schemeClr val="dk1"/>
                </a:solidFill>
              </a:rPr>
              <a:t>a) Compact set = “finite, closed region” , b) Optimization inside it always has a solution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Characterisation of Solution : </a:t>
            </a:r>
            <a:r>
              <a:rPr lang="en" sz="1200">
                <a:solidFill>
                  <a:schemeClr val="dk1"/>
                </a:solidFill>
              </a:rPr>
              <a:t>A point 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is optimal if: </a:t>
            </a:r>
            <a:endParaRPr sz="12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Unconstrained: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 </a:t>
            </a:r>
            <a:r>
              <a:rPr lang="en" sz="1200">
                <a:solidFill>
                  <a:schemeClr val="dk1"/>
                </a:solidFill>
              </a:rPr>
              <a:t>f(x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</a:t>
            </a:r>
            <a:endParaRPr sz="12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Constrained (KKT):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 </a:t>
            </a:r>
            <a:r>
              <a:rPr lang="en" sz="1200">
                <a:solidFill>
                  <a:schemeClr val="dk1"/>
                </a:solidFill>
              </a:rPr>
              <a:t>f(x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+ ∑ λ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 </a:t>
            </a:r>
            <a:r>
              <a:rPr lang="en" sz="1200">
                <a:solidFill>
                  <a:schemeClr val="dk1"/>
                </a:solidFill>
              </a:rPr>
              <a:t>g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(x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 </a:t>
            </a:r>
            <a:r>
              <a:rPr lang="en" sz="1200">
                <a:solidFill>
                  <a:schemeClr val="dk1"/>
                </a:solidFill>
              </a:rPr>
              <a:t>) = 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Geometric condition: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∇ </a:t>
            </a:r>
            <a:r>
              <a:rPr lang="en" sz="1200">
                <a:solidFill>
                  <a:schemeClr val="dk1"/>
                </a:solidFill>
              </a:rPr>
              <a:t>f(x</a:t>
            </a:r>
            <a:r>
              <a:rPr baseline="30000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</a:t>
            </a:r>
            <a:r>
              <a:rPr baseline="30000" lang="en" sz="1200">
                <a:solidFill>
                  <a:schemeClr val="dk1"/>
                </a:solidFill>
              </a:rPr>
              <a:t>T </a:t>
            </a:r>
            <a:r>
              <a:rPr lang="en" sz="1200">
                <a:solidFill>
                  <a:schemeClr val="dk1"/>
                </a:solidFill>
              </a:rPr>
              <a:t>d ≥ 0  ,for all feasible directions 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Meaning: i) </a:t>
            </a:r>
            <a:r>
              <a:rPr lang="en" sz="1200">
                <a:solidFill>
                  <a:schemeClr val="dk1"/>
                </a:solidFill>
              </a:rPr>
              <a:t>No direction improves solution, ii)Gradient is “blocked” by constraints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Example: </a:t>
            </a:r>
            <a:r>
              <a:rPr lang="en" sz="1200">
                <a:solidFill>
                  <a:schemeClr val="dk1"/>
                </a:solidFill>
              </a:rPr>
              <a:t>Budget shopping issue( Budget limits → bounded, All options considered → closed ,</a:t>
            </a:r>
            <a:r>
              <a:rPr lang="en" sz="1100">
                <a:solidFill>
                  <a:schemeClr val="dk1"/>
                </a:solidFill>
              </a:rPr>
              <a:t>Best purchase always exists.)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b="1"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Parameter constraints in ML , Ensures loss minimization is achievable , Used in </a:t>
            </a:r>
            <a:r>
              <a:rPr b="1" lang="en" sz="1200">
                <a:solidFill>
                  <a:schemeClr val="dk1"/>
                </a:solidFill>
              </a:rPr>
              <a:t>regularized optimization.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Characterisation of Solution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Point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is optimal if: </a:t>
            </a:r>
            <a:r>
              <a:rPr b="1" lang="en" sz="1200">
                <a:solidFill>
                  <a:schemeClr val="dk1"/>
                </a:solidFill>
              </a:rPr>
              <a:t>Unconstrained</a:t>
            </a:r>
            <a:r>
              <a:rPr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∇f (x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) = 0</a:t>
            </a:r>
            <a:r>
              <a:rPr lang="en" sz="1200">
                <a:solidFill>
                  <a:schemeClr val="dk1"/>
                </a:solidFill>
              </a:rPr>
              <a:t> ;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			 	</a:t>
            </a:r>
            <a:r>
              <a:rPr b="1" lang="en" sz="1200">
                <a:solidFill>
                  <a:schemeClr val="dk1"/>
                </a:solidFill>
              </a:rPr>
              <a:t>Constrained (KKT):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∇f (x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) + ∑ λ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i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​∇g</a:t>
            </a:r>
            <a:r>
              <a:rPr baseline="-25000" lang="en" sz="1200">
                <a:solidFill>
                  <a:schemeClr val="dk1"/>
                </a:solidFill>
                <a:highlight>
                  <a:srgbClr val="00FFFF"/>
                </a:highlight>
              </a:rPr>
              <a:t>i​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(x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) = 0</a:t>
            </a:r>
            <a:r>
              <a:rPr lang="en" sz="1200">
                <a:solidFill>
                  <a:schemeClr val="dk1"/>
                </a:solidFill>
              </a:rPr>
              <a:t> ;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								 </a:t>
            </a:r>
            <a:r>
              <a:rPr b="1" lang="en" sz="1200">
                <a:solidFill>
                  <a:schemeClr val="dk1"/>
                </a:solidFill>
              </a:rPr>
              <a:t>Geometric condition: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∇f (x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)</a:t>
            </a:r>
            <a:r>
              <a:rPr baseline="30000" lang="en" sz="1200">
                <a:solidFill>
                  <a:schemeClr val="dk1"/>
                </a:solidFill>
                <a:highlight>
                  <a:srgbClr val="00FFFF"/>
                </a:highlight>
              </a:rPr>
              <a:t>T</a:t>
            </a:r>
            <a:r>
              <a:rPr lang="en" sz="1200">
                <a:solidFill>
                  <a:schemeClr val="dk1"/>
                </a:solidFill>
                <a:highlight>
                  <a:srgbClr val="00FFFF"/>
                </a:highlight>
              </a:rPr>
              <a:t> d ≥ 0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, </a:t>
            </a:r>
            <a:r>
              <a:rPr lang="en" sz="1200">
                <a:solidFill>
                  <a:schemeClr val="dk1"/>
                </a:solidFill>
              </a:rPr>
              <a:t>( for all feasible directions d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Meaning</a:t>
            </a:r>
            <a:r>
              <a:rPr lang="en" sz="1200">
                <a:solidFill>
                  <a:schemeClr val="dk1"/>
                </a:solidFill>
              </a:rPr>
              <a:t> :      i) No direction improves solution ,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		 ii) Gradient is “blocked” by constraints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85" name="Google Shape;4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318" y="541817"/>
            <a:ext cx="2884575" cy="3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5"/>
          <p:cNvSpPr txBox="1"/>
          <p:nvPr>
            <p:ph idx="1" type="body"/>
          </p:nvPr>
        </p:nvSpPr>
        <p:spPr>
          <a:xfrm>
            <a:off x="17700" y="39600"/>
            <a:ext cx="9108600" cy="50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Duality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Aim : </a:t>
            </a:r>
            <a:r>
              <a:rPr lang="en" sz="1200">
                <a:solidFill>
                  <a:schemeClr val="dk1"/>
                </a:solidFill>
              </a:rPr>
              <a:t>Every optimization problem (</a:t>
            </a:r>
            <a:r>
              <a:rPr b="1" lang="en" sz="1200">
                <a:solidFill>
                  <a:schemeClr val="dk1"/>
                </a:solidFill>
              </a:rPr>
              <a:t>primal</a:t>
            </a:r>
            <a:r>
              <a:rPr lang="en" sz="1200">
                <a:solidFill>
                  <a:schemeClr val="dk1"/>
                </a:solidFill>
              </a:rPr>
              <a:t>) has a corresponding </a:t>
            </a:r>
            <a:r>
              <a:rPr b="1" lang="en" sz="1200">
                <a:solidFill>
                  <a:schemeClr val="dk1"/>
                </a:solidFill>
              </a:rPr>
              <a:t>dual problem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Primal Problem: </a:t>
            </a:r>
            <a:r>
              <a:rPr lang="en" sz="1200">
                <a:solidFill>
                  <a:schemeClr val="dk1"/>
                </a:solidFill>
              </a:rPr>
              <a:t>min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lang="en" sz="1200">
                <a:solidFill>
                  <a:schemeClr val="dk1"/>
                </a:solidFill>
              </a:rPr>
              <a:t>f(x) , subject to  g</a:t>
            </a:r>
            <a:r>
              <a:rPr baseline="-25000" lang="en" sz="1200">
                <a:solidFill>
                  <a:schemeClr val="dk1"/>
                </a:solidFill>
              </a:rPr>
              <a:t>i </a:t>
            </a:r>
            <a:r>
              <a:rPr lang="en" sz="1200">
                <a:solidFill>
                  <a:schemeClr val="dk1"/>
                </a:solidFill>
              </a:rPr>
              <a:t>(x)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Dual Problem: </a:t>
            </a:r>
            <a:r>
              <a:rPr lang="en" sz="1200">
                <a:solidFill>
                  <a:schemeClr val="dk1"/>
                </a:solidFill>
              </a:rPr>
              <a:t>max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 </a:t>
            </a:r>
            <a:r>
              <a:rPr lang="en" sz="1200">
                <a:solidFill>
                  <a:schemeClr val="dk1"/>
                </a:solidFill>
              </a:rPr>
              <a:t>θ (λ) , where: θ(λ) = inf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⁡</a:t>
            </a:r>
            <a:r>
              <a:rPr baseline="-25000" lang="en" sz="1200">
                <a:solidFill>
                  <a:schemeClr val="dk1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 L (x,λ)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Insight: i) </a:t>
            </a:r>
            <a:r>
              <a:rPr lang="en" sz="1200">
                <a:solidFill>
                  <a:schemeClr val="dk1"/>
                </a:solidFill>
              </a:rPr>
              <a:t>Primal → original problem , </a:t>
            </a:r>
            <a:r>
              <a:rPr b="1" lang="en" sz="1200">
                <a:solidFill>
                  <a:schemeClr val="dk1"/>
                </a:solidFill>
              </a:rPr>
              <a:t>ii)</a:t>
            </a:r>
            <a:r>
              <a:rPr lang="en" sz="1200">
                <a:solidFill>
                  <a:schemeClr val="dk1"/>
                </a:solidFill>
              </a:rPr>
              <a:t> Dual → transformed problem , </a:t>
            </a:r>
            <a:r>
              <a:rPr b="1" lang="en" sz="1200">
                <a:solidFill>
                  <a:schemeClr val="dk1"/>
                </a:solidFill>
              </a:rPr>
              <a:t>iii)</a:t>
            </a:r>
            <a:r>
              <a:rPr lang="en" sz="1200">
                <a:solidFill>
                  <a:schemeClr val="dk1"/>
                </a:solidFill>
              </a:rPr>
              <a:t> Solving dual can be easier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Real-Life Example : </a:t>
            </a:r>
            <a:r>
              <a:rPr lang="en" sz="1200">
                <a:solidFill>
                  <a:schemeClr val="dk1"/>
                </a:solidFill>
              </a:rPr>
              <a:t>Company production problem ( Primal → minimize cost , Dual → maximize profit from resource pricing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b="1"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Used in: ( SVM , Lagrangian optimization ,  Deep learning constraints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Lagrange Dual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Lagrangian :-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Dual Function :-   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Dual Problem :- 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Key Property :-    θ (λ) ≤ f (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)  ,  (always gives lower bound)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Idea</a:t>
            </a:r>
            <a:r>
              <a:rPr lang="en" sz="1200">
                <a:solidFill>
                  <a:schemeClr val="dk1"/>
                </a:solidFill>
              </a:rPr>
              <a:t> :-  i) Fix λ, minimize over x , ii) Then maximize over λ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</a:t>
            </a:r>
            <a:r>
              <a:rPr lang="en" sz="1200">
                <a:solidFill>
                  <a:schemeClr val="dk1"/>
                </a:solidFill>
              </a:rPr>
              <a:t> :- Resource allocation ( Assign “price” to constraints , Optimize system using prices 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:- Used in - SVM dual formulation , Convex optimization , Regularized learning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Weak Duality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Statement</a:t>
            </a:r>
            <a:r>
              <a:rPr lang="en" sz="1200">
                <a:solidFill>
                  <a:schemeClr val="dk1"/>
                </a:solidFill>
              </a:rPr>
              <a:t> : For any feasible x and λ:  θ (λ) ≤ f (x)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Meaning </a:t>
            </a:r>
            <a:r>
              <a:rPr lang="en" sz="1200">
                <a:solidFill>
                  <a:schemeClr val="dk1"/>
                </a:solidFill>
              </a:rPr>
              <a:t> : Dual solution is always a </a:t>
            </a:r>
            <a:r>
              <a:rPr b="1" lang="en" sz="1200">
                <a:solidFill>
                  <a:schemeClr val="dk1"/>
                </a:solidFill>
              </a:rPr>
              <a:t>lower bound</a:t>
            </a:r>
            <a:r>
              <a:rPr lang="en" sz="1200">
                <a:solidFill>
                  <a:schemeClr val="dk1"/>
                </a:solidFill>
              </a:rPr>
              <a:t> of primal.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Idea</a:t>
            </a:r>
            <a:r>
              <a:rPr lang="en" sz="1200">
                <a:solidFill>
                  <a:schemeClr val="dk1"/>
                </a:solidFill>
              </a:rPr>
              <a:t> :  i) Dual never overestimates primal  , ii) Safe approximation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91" name="Google Shape;49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975" y="1897225"/>
            <a:ext cx="2424275" cy="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025" y="2313525"/>
            <a:ext cx="1601125" cy="2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1025" y="2608488"/>
            <a:ext cx="8385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6"/>
          <p:cNvSpPr txBox="1"/>
          <p:nvPr>
            <p:ph idx="1" type="body"/>
          </p:nvPr>
        </p:nvSpPr>
        <p:spPr>
          <a:xfrm>
            <a:off x="40150" y="62950"/>
            <a:ext cx="9103800" cy="50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</a:t>
            </a:r>
            <a:r>
              <a:rPr lang="en" sz="1200">
                <a:solidFill>
                  <a:schemeClr val="dk1"/>
                </a:solidFill>
              </a:rPr>
              <a:t> :- Estimated cost is always ≤ actual cost.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:- Ensures stability in optimization , Used in loss bounds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Strong Duality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Statement : min f(x) = max θ(λ)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Condition : when - i) Problem is </a:t>
            </a:r>
            <a:r>
              <a:rPr b="1" lang="en" sz="1200">
                <a:solidFill>
                  <a:schemeClr val="dk1"/>
                </a:solidFill>
              </a:rPr>
              <a:t>convex</a:t>
            </a:r>
            <a:r>
              <a:rPr lang="en" sz="1200">
                <a:solidFill>
                  <a:schemeClr val="dk1"/>
                </a:solidFill>
              </a:rPr>
              <a:t>  , ii) </a:t>
            </a:r>
            <a:r>
              <a:rPr b="1" lang="en" sz="1200">
                <a:solidFill>
                  <a:schemeClr val="dk1"/>
                </a:solidFill>
              </a:rPr>
              <a:t>Slater’s condition</a:t>
            </a:r>
            <a:r>
              <a:rPr lang="en" sz="1200">
                <a:solidFill>
                  <a:schemeClr val="dk1"/>
                </a:solidFill>
              </a:rPr>
              <a:t> satisfied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00"/>
                </a:highlight>
              </a:rPr>
              <a:t>Slater’s Condition </a:t>
            </a:r>
            <a:endParaRPr b="1"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Statement</a:t>
            </a:r>
            <a:r>
              <a:rPr lang="en" sz="1200">
                <a:solidFill>
                  <a:schemeClr val="dk1"/>
                </a:solidFill>
              </a:rPr>
              <a:t> : If there exists x such that : g</a:t>
            </a:r>
            <a:r>
              <a:rPr baseline="-25000" lang="en" sz="1200">
                <a:solidFill>
                  <a:schemeClr val="dk1"/>
                </a:solidFill>
              </a:rPr>
              <a:t>i</a:t>
            </a:r>
            <a:r>
              <a:rPr lang="en" sz="1200">
                <a:solidFill>
                  <a:schemeClr val="dk1"/>
                </a:solidFill>
              </a:rPr>
              <a:t> ​(x) &lt; 0 , (strict feasibility)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        So : Strong duality holds.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Idea </a:t>
            </a:r>
            <a:r>
              <a:rPr lang="en" sz="1200">
                <a:solidFill>
                  <a:schemeClr val="dk1"/>
                </a:solidFill>
              </a:rPr>
              <a:t>: i) There is a point strictly inside feasible region , ii) No boundary issues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Real-Life Example</a:t>
            </a:r>
            <a:r>
              <a:rPr lang="en" sz="1200">
                <a:solidFill>
                  <a:schemeClr val="dk1"/>
                </a:solidFill>
              </a:rPr>
              <a:t> : Room with space inside (not just boundary) - We can move freely , Optimization behaves properly.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00FF00"/>
                </a:highlight>
              </a:rPr>
              <a:t>AI/ML Connection</a:t>
            </a:r>
            <a:r>
              <a:rPr lang="en" sz="1200">
                <a:solidFill>
                  <a:schemeClr val="dk1"/>
                </a:solidFill>
              </a:rPr>
              <a:t> : Used in i) SVM optimality , ii) Convex ML problems , iii) Efficient training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7"/>
          <p:cNvSpPr txBox="1"/>
          <p:nvPr>
            <p:ph idx="1" type="body"/>
          </p:nvPr>
        </p:nvSpPr>
        <p:spPr>
          <a:xfrm>
            <a:off x="35500" y="41250"/>
            <a:ext cx="9078300" cy="50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Table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graphicFrame>
        <p:nvGraphicFramePr>
          <p:cNvPr id="504" name="Google Shape;504;p87"/>
          <p:cNvGraphicFramePr/>
          <p:nvPr/>
        </p:nvGraphicFramePr>
        <p:xfrm>
          <a:off x="261900" y="41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{039CEB8D-F09A-42D0-9811-BDE1FAE6794C}</a:tableStyleId>
              </a:tblPr>
              <a:tblGrid>
                <a:gridCol w="1629925"/>
                <a:gridCol w="1701825"/>
                <a:gridCol w="2399675"/>
                <a:gridCol w="1910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Concept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Idea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Meaning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Formula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Compactness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Solution exists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Finite region → solution exists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Closed + bounded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Characterization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Optimality condition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—-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∇f = 0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Duality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Two problems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Two views of same problem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Primal ↔ Dual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Lagrange Dual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Transform problem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Solving via multipliers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r>
                        <a:rPr lang="en" sz="1200"/>
                        <a:t>ax θ (λ)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Weak Duality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Lower bound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Lower bound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θ</a:t>
                      </a:r>
                      <a:r>
                        <a:rPr lang="en" sz="1200"/>
                        <a:t> </a:t>
                      </a:r>
                      <a:r>
                        <a:rPr lang="en" sz="1200"/>
                        <a:t>≤ f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Strong Duality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Equal solutions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Exact match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r>
                        <a:rPr lang="en" sz="1200"/>
                        <a:t> = θ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Slater Condition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Feasibility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Guarantees strong duality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g(x) &lt; 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8"/>
          <p:cNvSpPr txBox="1"/>
          <p:nvPr>
            <p:ph idx="1" type="body"/>
          </p:nvPr>
        </p:nvSpPr>
        <p:spPr>
          <a:xfrm>
            <a:off x="0" y="0"/>
            <a:ext cx="9114000" cy="51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Numerical Method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6"/>
                </a:highlight>
              </a:rPr>
              <a:t>1)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Compactness &amp; Existence of Solution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Problem : Minimize: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− 4x , over range S = [ 0,3 ]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Solution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1: Check compactness : Interval [0,3] is - closed , bounded . So Compact SET.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2: Check continuity : f(x) is continuous.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3: Conclusion : </a:t>
            </a:r>
            <a:r>
              <a:rPr lang="en" sz="1200">
                <a:solidFill>
                  <a:schemeClr val="dk1"/>
                </a:solidFill>
              </a:rPr>
              <a:t>By </a:t>
            </a:r>
            <a:r>
              <a:rPr b="1" lang="en" sz="1200">
                <a:solidFill>
                  <a:schemeClr val="dk1"/>
                </a:solidFill>
              </a:rPr>
              <a:t>Weierstrass theorem</a:t>
            </a:r>
            <a:r>
              <a:rPr lang="en" sz="1200">
                <a:solidFill>
                  <a:schemeClr val="dk1"/>
                </a:solidFill>
              </a:rPr>
              <a:t>:  ∃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∈ 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Find minimum : f′(x) = 2x − 4  , 2x −4 = 0 ⇒ x = 2  , Checking : f(0) = 0, f(2) =−4 , f(3) = 3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2, f(x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−4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2) </a:t>
            </a: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Characterisation of Solution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Problem : Minimize : f(x,y)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, subject to : x +y = 2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	Solution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1: Lagrangian : L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λ (x+y−2)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2: Stationarity : 2x +λ = 0  , 2y +λ = 0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Step 3: Solve : x = y , x + y = 2 ⇒x =1, y =1  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 :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, y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(1, 1) 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9"/>
          <p:cNvSpPr txBox="1"/>
          <p:nvPr>
            <p:ph idx="1" type="body"/>
          </p:nvPr>
        </p:nvSpPr>
        <p:spPr>
          <a:xfrm>
            <a:off x="42675" y="41250"/>
            <a:ext cx="9071400" cy="50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3) Lagrange Dual Problem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 f(x) = x</a:t>
            </a:r>
            <a:r>
              <a:rPr baseline="30000" lang="en" sz="1200">
                <a:solidFill>
                  <a:schemeClr val="dk1"/>
                </a:solidFill>
              </a:rPr>
              <a:t>2  </a:t>
            </a:r>
            <a:r>
              <a:rPr lang="en" sz="1200">
                <a:solidFill>
                  <a:schemeClr val="dk1"/>
                </a:solidFill>
              </a:rPr>
              <a:t>, Subject to : x − 1 ≥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Rewrite constraint : g(x) = 1 − x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Lagrangian : L(x,λ)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λ ( 1−x )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Dual function : Minimize  w.r.t  x: dL/dx ​= 2x − λ = 0 , x = λ/2​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Substitute : θ(λ) = (λ​/2)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λ( 1 − λ/2 ​) , θ(λ)  = λ</a:t>
            </a:r>
            <a:r>
              <a:rPr baseline="30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/4 + λ − λ</a:t>
            </a:r>
            <a:r>
              <a:rPr baseline="30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/2 = </a:t>
            </a:r>
            <a:r>
              <a:rPr lang="en" sz="1200">
                <a:solidFill>
                  <a:schemeClr val="dk1"/>
                </a:solidFill>
              </a:rPr>
              <a:t>λ − λ</a:t>
            </a:r>
            <a:r>
              <a:rPr baseline="30000" lang="en" sz="1200">
                <a:solidFill>
                  <a:schemeClr val="dk1"/>
                </a:solidFill>
              </a:rPr>
              <a:t>2​ </a:t>
            </a:r>
            <a:r>
              <a:rPr lang="en" sz="1200">
                <a:solidFill>
                  <a:schemeClr val="dk1"/>
                </a:solidFill>
              </a:rPr>
              <a:t>/4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5: Maximize : dθ/ dλ  ​= 1 − λ/2​ = 0 ,  =&gt; λ = 2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6: Dual value : θ(2) = 2−1 = 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: </a:t>
            </a:r>
            <a:r>
              <a:rPr lang="en" sz="1200">
                <a:solidFill>
                  <a:schemeClr val="dk1"/>
                </a:solidFill>
              </a:rPr>
              <a:t>Dual optimum = 1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4) Weak Duality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Given 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, x = 2  , Dual function: θ(λ) = λ − λ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​ /4 , Take λ 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:  f(2) = 4  , Dual value : θ(1) = 1 −1/4 ​= 0.75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Check : θ(λ) ≤ f(x) , 0.75 ≤ 4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: V</a:t>
            </a:r>
            <a:r>
              <a:rPr lang="en" sz="1200">
                <a:solidFill>
                  <a:schemeClr val="dk1"/>
                </a:solidFill>
              </a:rPr>
              <a:t>erified (Weak duality holds.)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0"/>
          <p:cNvSpPr txBox="1"/>
          <p:nvPr>
            <p:ph idx="1" type="body"/>
          </p:nvPr>
        </p:nvSpPr>
        <p:spPr>
          <a:xfrm>
            <a:off x="42675" y="48450"/>
            <a:ext cx="9071400" cy="50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5) Strong Duality (Slater’s Condition)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, Subject to:  x &gt; 0.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Slater’s condition : There exists x such that: x &gt; 0  , Example: x= 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Convexity 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is convex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Conclusion : Strong duality holds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Dual optimum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6)Complementary Slackness 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Subject to: x − 1 ≥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1: Constraint : g(x) = 1− x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2: Optimal solution : x</a:t>
            </a:r>
            <a:r>
              <a:rPr baseline="30000" lang="en" sz="1200">
                <a:solidFill>
                  <a:schemeClr val="dk1"/>
                </a:solidFill>
              </a:rPr>
              <a:t>∗ </a:t>
            </a:r>
            <a:r>
              <a:rPr lang="en" sz="1200">
                <a:solidFill>
                  <a:schemeClr val="dk1"/>
                </a:solidFill>
              </a:rPr>
              <a:t>= 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3: Complementary slackness : λ (1−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 , λ(0)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Step 4: </a:t>
            </a:r>
            <a:r>
              <a:rPr lang="en" sz="1200">
                <a:solidFill>
                  <a:schemeClr val="dk1"/>
                </a:solidFill>
              </a:rPr>
              <a:t>Status</a:t>
            </a:r>
            <a:r>
              <a:rPr lang="en" sz="1200">
                <a:solidFill>
                  <a:schemeClr val="dk1"/>
                </a:solidFill>
              </a:rPr>
              <a:t> of λ , λ =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Condition satisfied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91"/>
          <p:cNvSpPr txBox="1"/>
          <p:nvPr>
            <p:ph idx="1" type="body"/>
          </p:nvPr>
        </p:nvSpPr>
        <p:spPr>
          <a:xfrm>
            <a:off x="49875" y="41250"/>
            <a:ext cx="9064200" cy="50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7) Complementary Slackness (Inactive Constraint)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Problem : Minimize: f(x) =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, Subject to : x ≥ −1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Solution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Minimum of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:   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Constraint :  0 &gt; −1 ⇒ inactive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Complementary slackness : λg (x</a:t>
            </a:r>
            <a:r>
              <a:rPr baseline="30000" lang="en" sz="1200">
                <a:solidFill>
                  <a:schemeClr val="dk1"/>
                </a:solidFill>
              </a:rPr>
              <a:t>∗</a:t>
            </a:r>
            <a:r>
              <a:rPr lang="en" sz="1200">
                <a:solidFill>
                  <a:schemeClr val="dk1"/>
                </a:solidFill>
              </a:rPr>
              <a:t>) = 0 , λ(−1) = 0 ⇒ λ =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00FF00"/>
                </a:highlight>
              </a:rPr>
              <a:t>Final Answer</a:t>
            </a:r>
            <a:r>
              <a:rPr lang="en" sz="1200">
                <a:solidFill>
                  <a:schemeClr val="dk1"/>
                </a:solidFill>
              </a:rPr>
              <a:t> : </a:t>
            </a:r>
            <a:r>
              <a:rPr lang="en" sz="1200">
                <a:solidFill>
                  <a:schemeClr val="dk1"/>
                </a:solidFill>
              </a:rPr>
              <a:t>λ = 0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2"/>
          <p:cNvSpPr txBox="1"/>
          <p:nvPr>
            <p:ph idx="1" type="body"/>
          </p:nvPr>
        </p:nvSpPr>
        <p:spPr>
          <a:xfrm>
            <a:off x="42675" y="55625"/>
            <a:ext cx="9071400" cy="50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00FFFF"/>
                </a:highlight>
              </a:rPr>
              <a:t>Practise Questions</a:t>
            </a:r>
            <a:endParaRPr sz="1400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6"/>
                </a:highlight>
              </a:rPr>
              <a:t>Compactness &amp; Characterisation (Medium &amp; Hard) 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1) Determine whether the set is compact:  S = { x ∈ R ∣ 0 &lt; x ≤ 2 } , Justify your answer.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2) Minimize: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− 6x + 5 , over the range : S = [ 0, 5 ]  , Check existence and find optimal solution.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3) Minimize:  f(x,y)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− 2x , subject to : x + y = 3 , Use optimality conditions to solve.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4) </a:t>
            </a:r>
            <a:r>
              <a:rPr lang="en" sz="1200">
                <a:solidFill>
                  <a:schemeClr val="dk1"/>
                </a:solidFill>
              </a:rPr>
              <a:t>State and verify the </a:t>
            </a:r>
            <a:r>
              <a:rPr b="1" lang="en" sz="1200">
                <a:solidFill>
                  <a:schemeClr val="dk1"/>
                </a:solidFill>
              </a:rPr>
              <a:t>first-order optimality condition</a:t>
            </a:r>
            <a:r>
              <a:rPr lang="en" sz="1200">
                <a:solidFill>
                  <a:schemeClr val="dk1"/>
                </a:solidFill>
              </a:rPr>
              <a:t> for: f(x,y)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y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, at point (0, 0) 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5) Determine whether minimum exists for: f(x)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 , over range : S = (0,2) , Explain using compactness.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6) Minimize: f(x,y)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, Subject to: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≤ 4 , Identify optimal solution and justify geometrically.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6"/>
                </a:highlight>
              </a:rPr>
              <a:t>Duality &amp; Lagrange Dual (Medium &amp; Hard) 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7) </a:t>
            </a:r>
            <a:r>
              <a:rPr lang="en" sz="1200">
                <a:solidFill>
                  <a:schemeClr val="dk1"/>
                </a:solidFill>
              </a:rPr>
              <a:t>Form the </a:t>
            </a:r>
            <a:r>
              <a:rPr b="1" lang="en" sz="1200">
                <a:solidFill>
                  <a:schemeClr val="dk1"/>
                </a:solidFill>
              </a:rPr>
              <a:t>Lagrangian dual</a:t>
            </a:r>
            <a:r>
              <a:rPr lang="en" sz="1200">
                <a:solidFill>
                  <a:schemeClr val="dk1"/>
                </a:solidFill>
              </a:rPr>
              <a:t> of: min x</a:t>
            </a:r>
            <a:r>
              <a:rPr baseline="30000" lang="en" sz="1200">
                <a:solidFill>
                  <a:schemeClr val="dk1"/>
                </a:solidFill>
              </a:rPr>
              <a:t>2  </a:t>
            </a:r>
            <a:r>
              <a:rPr lang="en" sz="1200">
                <a:solidFill>
                  <a:schemeClr val="dk1"/>
                </a:solidFill>
              </a:rPr>
              <a:t> , subject to : x ≥ 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8) Given:  L(x,λ)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+ λ (2−x) , Derive the dual function θ(λ)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9) Find dual problem for:  min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  </a:t>
            </a:r>
            <a:r>
              <a:rPr lang="en" sz="1200">
                <a:solidFill>
                  <a:schemeClr val="dk1"/>
                </a:solidFill>
              </a:rPr>
              <a:t>, subject to : x + y =1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10) Given : min x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+ y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 ,  subject to : x+y ≥ 1  , Derive dual problem and solve it.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11) Prove that dual function: θ(λ)  , is always concave (even if primal is not convex).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accent6"/>
                </a:highlight>
              </a:rPr>
              <a:t>Weak &amp; Strong Duality 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12) Verify weak duality for: f(x)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, x = 2 ; θ(λ) = λ− λ</a:t>
            </a:r>
            <a:r>
              <a:rPr baseline="30000" lang="en" sz="1200">
                <a:solidFill>
                  <a:schemeClr val="dk1"/>
                </a:solidFill>
              </a:rPr>
              <a:t>2 </a:t>
            </a:r>
            <a:r>
              <a:rPr lang="en" sz="1200">
                <a:solidFill>
                  <a:schemeClr val="dk1"/>
                </a:solidFill>
              </a:rPr>
              <a:t>/4 , for λ=1</a:t>
            </a:r>
            <a:endParaRPr baseline="30000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3"/>
          <p:cNvSpPr txBox="1"/>
          <p:nvPr>
            <p:ph idx="1" type="body"/>
          </p:nvPr>
        </p:nvSpPr>
        <p:spPr>
          <a:xfrm>
            <a:off x="42675" y="62825"/>
            <a:ext cx="9064200" cy="5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13) Check whether strong duality holds for:  min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, subject to : x &gt;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14) State Slater’s condition and verify it for: f ( x ) = x</a:t>
            </a:r>
            <a:r>
              <a:rPr baseline="30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  , g(x) = x−1 ≤ 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15) Show that if Slater’s condition holds, then: min f(x) = max θ(λ) , Provide proof outline.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16) Give an example where: Strong duality fails , Explain why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accent6"/>
                </a:highlight>
              </a:rPr>
              <a:t>Complementary Slackness </a:t>
            </a:r>
            <a:endParaRPr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17) Check complementary slackness for: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= 1, g(x) = 1−x ≤0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18) Given: λ = 3, g(x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∗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) = 0 , Verify condition.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19) Solve using KKT and verify complementary slackness: min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, subject to : x ≥ 1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20) Minimize: f(x,y) = x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+ y</a:t>
            </a:r>
            <a:r>
              <a:rPr baseline="30000" lang="en" sz="1200">
                <a:solidFill>
                  <a:schemeClr val="dk1"/>
                </a:solidFill>
                <a:highlight>
                  <a:schemeClr val="lt1"/>
                </a:highlight>
              </a:rPr>
              <a:t>2  </a:t>
            </a:r>
            <a:r>
              <a:rPr baseline="-25000" lang="en" sz="12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, subject to : x+y ≥ 2 ,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 Solve and verify complementary slackness. 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